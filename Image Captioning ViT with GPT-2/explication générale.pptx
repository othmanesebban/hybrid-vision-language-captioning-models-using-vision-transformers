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3" r:id="rId2"/>
    <p:sldId id="276" r:id="rId3"/>
    <p:sldId id="275" r:id="rId4"/>
    <p:sldId id="256" r:id="rId5"/>
    <p:sldId id="257" r:id="rId6"/>
    <p:sldId id="258" r:id="rId7"/>
    <p:sldId id="261" r:id="rId8"/>
    <p:sldId id="262" r:id="rId9"/>
    <p:sldId id="263" r:id="rId10"/>
    <p:sldId id="265" r:id="rId11"/>
    <p:sldId id="266" r:id="rId12"/>
    <p:sldId id="267" r:id="rId13"/>
    <p:sldId id="268" r:id="rId14"/>
    <p:sldId id="270" r:id="rId15"/>
    <p:sldId id="271" r:id="rId16"/>
    <p:sldId id="272" r:id="rId17"/>
    <p:sldId id="277" r:id="rId18"/>
    <p:sldId id="278" r:id="rId19"/>
    <p:sldId id="274" r:id="rId20"/>
    <p:sldId id="259" r:id="rId21"/>
    <p:sldId id="269" r:id="rId2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0" d="100"/>
          <a:sy n="70" d="100"/>
        </p:scale>
        <p:origin x="508"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fr-F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Modifiez le style des sous-titres du masque</a:t>
            </a:r>
            <a:endParaRPr lang="fr-FR"/>
          </a:p>
        </p:txBody>
      </p:sp>
      <p:sp>
        <p:nvSpPr>
          <p:cNvPr id="4" name="Espace réservé de la date 3"/>
          <p:cNvSpPr>
            <a:spLocks noGrp="1"/>
          </p:cNvSpPr>
          <p:nvPr>
            <p:ph type="dt" sz="half" idx="10"/>
          </p:nvPr>
        </p:nvSpPr>
        <p:spPr/>
        <p:txBody>
          <a:bodyPr/>
          <a:lstStyle/>
          <a:p>
            <a:fld id="{1B731C93-6E8A-44BC-B6F2-435BFA1BEC3C}" type="datetimeFigureOut">
              <a:rPr lang="fr-FR" smtClean="0"/>
              <a:t>30/04/2025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41E15C4-790E-475A-AA84-86AB7A96FFFF}" type="slidenum">
              <a:rPr lang="fr-FR" smtClean="0"/>
              <a:t>‹N°›</a:t>
            </a:fld>
            <a:endParaRPr lang="fr-FR"/>
          </a:p>
        </p:txBody>
      </p:sp>
    </p:spTree>
    <p:extLst>
      <p:ext uri="{BB962C8B-B14F-4D97-AF65-F5344CB8AC3E}">
        <p14:creationId xmlns:p14="http://schemas.microsoft.com/office/powerpoint/2010/main" val="15029796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1B731C93-6E8A-44BC-B6F2-435BFA1BEC3C}" type="datetimeFigureOut">
              <a:rPr lang="fr-FR" smtClean="0"/>
              <a:t>30/04/2025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41E15C4-790E-475A-AA84-86AB7A96FFFF}" type="slidenum">
              <a:rPr lang="fr-FR" smtClean="0"/>
              <a:t>‹N°›</a:t>
            </a:fld>
            <a:endParaRPr lang="fr-FR"/>
          </a:p>
        </p:txBody>
      </p:sp>
    </p:spTree>
    <p:extLst>
      <p:ext uri="{BB962C8B-B14F-4D97-AF65-F5344CB8AC3E}">
        <p14:creationId xmlns:p14="http://schemas.microsoft.com/office/powerpoint/2010/main" val="950783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fr-F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Modifiez les styles du texte du masque</a:t>
            </a:r>
          </a:p>
        </p:txBody>
      </p:sp>
      <p:sp>
        <p:nvSpPr>
          <p:cNvPr id="4" name="Espace réservé de la date 3"/>
          <p:cNvSpPr>
            <a:spLocks noGrp="1"/>
          </p:cNvSpPr>
          <p:nvPr>
            <p:ph type="dt" sz="half" idx="10"/>
          </p:nvPr>
        </p:nvSpPr>
        <p:spPr/>
        <p:txBody>
          <a:bodyPr/>
          <a:lstStyle/>
          <a:p>
            <a:fld id="{1B731C93-6E8A-44BC-B6F2-435BFA1BEC3C}" type="datetimeFigureOut">
              <a:rPr lang="fr-FR" smtClean="0"/>
              <a:t>30/04/2025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41E15C4-790E-475A-AA84-86AB7A96FFFF}" type="slidenum">
              <a:rPr lang="fr-FR" smtClean="0"/>
              <a:t>‹N°›</a:t>
            </a:fld>
            <a:endParaRPr lang="fr-FR"/>
          </a:p>
        </p:txBody>
      </p:sp>
    </p:spTree>
    <p:extLst>
      <p:ext uri="{BB962C8B-B14F-4D97-AF65-F5344CB8AC3E}">
        <p14:creationId xmlns:p14="http://schemas.microsoft.com/office/powerpoint/2010/main" val="14862666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838200" y="1825625"/>
            <a:ext cx="5181600" cy="435133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6172200" y="1825625"/>
            <a:ext cx="5181600" cy="435133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1B731C93-6E8A-44BC-B6F2-435BFA1BEC3C}" type="datetimeFigureOut">
              <a:rPr lang="fr-FR" smtClean="0"/>
              <a:t>30/04/2025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E41E15C4-790E-475A-AA84-86AB7A96FFFF}" type="slidenum">
              <a:rPr lang="fr-FR" smtClean="0"/>
              <a:t>‹N°›</a:t>
            </a:fld>
            <a:endParaRPr lang="fr-FR"/>
          </a:p>
        </p:txBody>
      </p:sp>
    </p:spTree>
    <p:extLst>
      <p:ext uri="{BB962C8B-B14F-4D97-AF65-F5344CB8AC3E}">
        <p14:creationId xmlns:p14="http://schemas.microsoft.com/office/powerpoint/2010/main" val="33928960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smtClean="0"/>
              <a:t>Modifiez le style du titre</a:t>
            </a:r>
            <a:endParaRPr lang="fr-F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1B731C93-6E8A-44BC-B6F2-435BFA1BEC3C}" type="datetimeFigureOut">
              <a:rPr lang="fr-FR" smtClean="0"/>
              <a:t>30/04/2025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E41E15C4-790E-475A-AA84-86AB7A96FFFF}" type="slidenum">
              <a:rPr lang="fr-FR" smtClean="0"/>
              <a:t>‹N°›</a:t>
            </a:fld>
            <a:endParaRPr lang="fr-FR"/>
          </a:p>
        </p:txBody>
      </p:sp>
    </p:spTree>
    <p:extLst>
      <p:ext uri="{BB962C8B-B14F-4D97-AF65-F5344CB8AC3E}">
        <p14:creationId xmlns:p14="http://schemas.microsoft.com/office/powerpoint/2010/main" val="14675738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fld id="{1B731C93-6E8A-44BC-B6F2-435BFA1BEC3C}" type="datetimeFigureOut">
              <a:rPr lang="fr-FR" smtClean="0"/>
              <a:t>30/04/2025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E41E15C4-790E-475A-AA84-86AB7A96FFFF}" type="slidenum">
              <a:rPr lang="fr-FR" smtClean="0"/>
              <a:t>‹N°›</a:t>
            </a:fld>
            <a:endParaRPr lang="fr-FR"/>
          </a:p>
        </p:txBody>
      </p:sp>
    </p:spTree>
    <p:extLst>
      <p:ext uri="{BB962C8B-B14F-4D97-AF65-F5344CB8AC3E}">
        <p14:creationId xmlns:p14="http://schemas.microsoft.com/office/powerpoint/2010/main" val="36722253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1B731C93-6E8A-44BC-B6F2-435BFA1BEC3C}" type="datetimeFigureOut">
              <a:rPr lang="fr-FR" smtClean="0"/>
              <a:t>30/04/2025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E41E15C4-790E-475A-AA84-86AB7A96FFFF}" type="slidenum">
              <a:rPr lang="fr-FR" smtClean="0"/>
              <a:t>‹N°›</a:t>
            </a:fld>
            <a:endParaRPr lang="fr-FR"/>
          </a:p>
        </p:txBody>
      </p:sp>
    </p:spTree>
    <p:extLst>
      <p:ext uri="{BB962C8B-B14F-4D97-AF65-F5344CB8AC3E}">
        <p14:creationId xmlns:p14="http://schemas.microsoft.com/office/powerpoint/2010/main" val="15251824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fld id="{1B731C93-6E8A-44BC-B6F2-435BFA1BEC3C}" type="datetimeFigureOut">
              <a:rPr lang="fr-FR" smtClean="0"/>
              <a:t>30/04/2025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E41E15C4-790E-475A-AA84-86AB7A96FFFF}" type="slidenum">
              <a:rPr lang="fr-FR" smtClean="0"/>
              <a:t>‹N°›</a:t>
            </a:fld>
            <a:endParaRPr lang="fr-FR"/>
          </a:p>
        </p:txBody>
      </p:sp>
    </p:spTree>
    <p:extLst>
      <p:ext uri="{BB962C8B-B14F-4D97-AF65-F5344CB8AC3E}">
        <p14:creationId xmlns:p14="http://schemas.microsoft.com/office/powerpoint/2010/main" val="13528073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fld id="{1B731C93-6E8A-44BC-B6F2-435BFA1BEC3C}" type="datetimeFigureOut">
              <a:rPr lang="fr-FR" smtClean="0"/>
              <a:t>30/04/2025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E41E15C4-790E-475A-AA84-86AB7A96FFFF}" type="slidenum">
              <a:rPr lang="fr-FR" smtClean="0"/>
              <a:t>‹N°›</a:t>
            </a:fld>
            <a:endParaRPr lang="fr-FR"/>
          </a:p>
        </p:txBody>
      </p:sp>
    </p:spTree>
    <p:extLst>
      <p:ext uri="{BB962C8B-B14F-4D97-AF65-F5344CB8AC3E}">
        <p14:creationId xmlns:p14="http://schemas.microsoft.com/office/powerpoint/2010/main" val="42688100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1B731C93-6E8A-44BC-B6F2-435BFA1BEC3C}" type="datetimeFigureOut">
              <a:rPr lang="fr-FR" smtClean="0"/>
              <a:t>30/04/2025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41E15C4-790E-475A-AA84-86AB7A96FFFF}" type="slidenum">
              <a:rPr lang="fr-FR" smtClean="0"/>
              <a:t>‹N°›</a:t>
            </a:fld>
            <a:endParaRPr lang="fr-FR"/>
          </a:p>
        </p:txBody>
      </p:sp>
    </p:spTree>
    <p:extLst>
      <p:ext uri="{BB962C8B-B14F-4D97-AF65-F5344CB8AC3E}">
        <p14:creationId xmlns:p14="http://schemas.microsoft.com/office/powerpoint/2010/main" val="35720609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1B731C93-6E8A-44BC-B6F2-435BFA1BEC3C}" type="datetimeFigureOut">
              <a:rPr lang="fr-FR" smtClean="0"/>
              <a:t>30/04/2025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41E15C4-790E-475A-AA84-86AB7A96FFFF}" type="slidenum">
              <a:rPr lang="fr-FR" smtClean="0"/>
              <a:t>‹N°›</a:t>
            </a:fld>
            <a:endParaRPr lang="fr-FR"/>
          </a:p>
        </p:txBody>
      </p:sp>
    </p:spTree>
    <p:extLst>
      <p:ext uri="{BB962C8B-B14F-4D97-AF65-F5344CB8AC3E}">
        <p14:creationId xmlns:p14="http://schemas.microsoft.com/office/powerpoint/2010/main" val="345861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731C93-6E8A-44BC-B6F2-435BFA1BEC3C}" type="datetimeFigureOut">
              <a:rPr lang="fr-FR" smtClean="0"/>
              <a:t>30/04/2025</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1E15C4-790E-475A-AA84-86AB7A96FFFF}" type="slidenum">
              <a:rPr lang="fr-FR" smtClean="0"/>
              <a:t>‹N°›</a:t>
            </a:fld>
            <a:endParaRPr lang="fr-FR"/>
          </a:p>
        </p:txBody>
      </p:sp>
    </p:spTree>
    <p:extLst>
      <p:ext uri="{BB962C8B-B14F-4D97-AF65-F5344CB8AC3E}">
        <p14:creationId xmlns:p14="http://schemas.microsoft.com/office/powerpoint/2010/main" val="39500998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a:xfrm>
            <a:off x="0" y="0"/>
            <a:ext cx="12192000" cy="6858000"/>
          </a:xfrm>
        </p:spPr>
        <p:txBody>
          <a:bodyPr>
            <a:normAutofit/>
          </a:bodyPr>
          <a:lstStyle/>
          <a:p>
            <a:pPr algn="l"/>
            <a:r>
              <a:rPr lang="fr-FR" b="1" dirty="0" smtClean="0"/>
              <a:t>Abstract</a:t>
            </a:r>
          </a:p>
          <a:p>
            <a:pPr algn="l"/>
            <a:r>
              <a:rPr lang="fr-FR" sz="1800" dirty="0"/>
              <a:t>Dans cette étude, nous présentons une architecture innovante pour la génération automatique de légendes d’images, fondée sur le cadre </a:t>
            </a:r>
            <a:r>
              <a:rPr lang="fr-FR" sz="1800" dirty="0" smtClean="0"/>
              <a:t>Vision Encoder </a:t>
            </a:r>
            <a:r>
              <a:rPr lang="fr-FR" sz="1800" dirty="0" err="1" smtClean="0"/>
              <a:t>Decoder</a:t>
            </a:r>
            <a:r>
              <a:rPr lang="fr-FR" sz="1800" dirty="0"/>
              <a:t>. Elle associe un encodeur Vision Transformer (</a:t>
            </a:r>
            <a:r>
              <a:rPr lang="fr-FR" sz="1800" dirty="0" err="1"/>
              <a:t>ViT</a:t>
            </a:r>
            <a:r>
              <a:rPr lang="fr-FR" sz="1800" dirty="0"/>
              <a:t>) à un décodeur GPT-2, incluant également la variante GPT-2 Medium. Deux approches sont explorées : l’une utilise des modèles </a:t>
            </a:r>
            <a:r>
              <a:rPr lang="fr-FR" sz="1800" dirty="0" smtClean="0"/>
              <a:t>pré entraînés </a:t>
            </a:r>
            <a:r>
              <a:rPr lang="fr-FR" sz="1800" dirty="0"/>
              <a:t>pour des applications orientées accessibilité, notamment pour les personnes malvoyantes ; l’autre, nommée VisionGPT2, est une solution multimodale développée manuellement en </a:t>
            </a:r>
            <a:r>
              <a:rPr lang="fr-FR" sz="1800" dirty="0" err="1"/>
              <a:t>PyTorch</a:t>
            </a:r>
            <a:r>
              <a:rPr lang="fr-FR" sz="1800" dirty="0"/>
              <a:t>. L’évaluation repose sur deux jeux de données adaptés — Flickr30k pour l’approche </a:t>
            </a:r>
            <a:r>
              <a:rPr lang="fr-FR" sz="1800" dirty="0" smtClean="0"/>
              <a:t>pré entraînée, </a:t>
            </a:r>
            <a:r>
              <a:rPr lang="fr-FR" sz="1800" dirty="0"/>
              <a:t>et MS COCO 2017 pour l’architecture personnalisée — intégrant des techniques avancées de prétraitement. Les résultats démontrent la capacité des modèles à générer des légendes fiables et contextuellement pertinentes, avec des performances mesurées à l’aide de la métrique ROUGE-2. Enfin, cette recherche ouvre la voie à une implémentation mobile, visant une solution inclusive et performante de description d’images en temps réel</a:t>
            </a:r>
            <a:r>
              <a:rPr lang="fr-FR" sz="1800" dirty="0" smtClean="0"/>
              <a:t>.</a:t>
            </a:r>
          </a:p>
          <a:p>
            <a:pPr algn="l"/>
            <a:r>
              <a:rPr lang="fr-FR" b="1" dirty="0" smtClean="0"/>
              <a:t>Introduction</a:t>
            </a:r>
          </a:p>
          <a:p>
            <a:pPr algn="l"/>
            <a:r>
              <a:rPr lang="fr-FR" sz="1800" dirty="0"/>
              <a:t>%--------------------------- Contexte </a:t>
            </a:r>
            <a:r>
              <a:rPr lang="fr-FR" sz="1800" dirty="0" smtClean="0"/>
              <a:t>----------------------------%</a:t>
            </a:r>
            <a:endParaRPr lang="fr-FR" sz="1800" b="1" dirty="0"/>
          </a:p>
          <a:p>
            <a:pPr algn="l"/>
            <a:r>
              <a:rPr lang="fr-FR" sz="1800" dirty="0" smtClean="0"/>
              <a:t>La </a:t>
            </a:r>
            <a:r>
              <a:rPr lang="fr-FR" sz="1800" dirty="0"/>
              <a:t>génération automatique de légendes d’images s’impose aujourd’hui comme un domaine clé de la vision </a:t>
            </a:r>
            <a:r>
              <a:rPr lang="fr-FR" sz="1800" dirty="0" smtClean="0"/>
              <a:t>artificielle </a:t>
            </a:r>
            <a:r>
              <a:rPr lang="fr-FR" sz="1800" b="1" dirty="0" smtClean="0"/>
              <a:t>[1]</a:t>
            </a:r>
            <a:r>
              <a:rPr lang="fr-FR" sz="1800" dirty="0" smtClean="0"/>
              <a:t>, </a:t>
            </a:r>
            <a:r>
              <a:rPr lang="fr-FR" sz="1800" dirty="0"/>
              <a:t>en particulier pour l’assistance aux personnes malvoyantes. L’introduction des modèles </a:t>
            </a:r>
            <a:r>
              <a:rPr lang="fr-FR" sz="1800" dirty="0" smtClean="0"/>
              <a:t>Transformer </a:t>
            </a:r>
            <a:r>
              <a:rPr lang="fr-FR" sz="1800" b="1" dirty="0" smtClean="0"/>
              <a:t>[2]</a:t>
            </a:r>
            <a:r>
              <a:rPr lang="fr-FR" sz="1800" dirty="0" smtClean="0"/>
              <a:t> </a:t>
            </a:r>
            <a:r>
              <a:rPr lang="fr-FR" sz="1800" dirty="0"/>
              <a:t>a permis des progrès remarquables en améliorant la pertinence, la fluidité et la précision des descriptions générées. Cette synergie entre l’analyse visuelle et la génération de langage permet désormais de concevoir des systèmes capables de comprendre une image et d’en restituer le contenu sous forme textuelle. Des outils comme </a:t>
            </a:r>
            <a:r>
              <a:rPr lang="fr-FR" sz="1800" dirty="0" err="1" smtClean="0"/>
              <a:t>ChatGPT</a:t>
            </a:r>
            <a:r>
              <a:rPr lang="fr-FR" sz="1800" b="1" dirty="0"/>
              <a:t> </a:t>
            </a:r>
            <a:r>
              <a:rPr lang="fr-FR" sz="1800" b="1" dirty="0" smtClean="0"/>
              <a:t>[3]</a:t>
            </a:r>
            <a:r>
              <a:rPr lang="fr-FR" sz="1800" dirty="0" smtClean="0"/>
              <a:t> </a:t>
            </a:r>
            <a:r>
              <a:rPr lang="fr-FR" sz="1800" dirty="0"/>
              <a:t>renforcent encore cette interaction entre vision computationnelle et langage naturel</a:t>
            </a:r>
            <a:r>
              <a:rPr lang="fr-FR" sz="1800" dirty="0" smtClean="0"/>
              <a:t>.</a:t>
            </a:r>
          </a:p>
          <a:p>
            <a:pPr algn="l"/>
            <a:r>
              <a:rPr lang="fr-FR" sz="1800" dirty="0"/>
              <a:t>%--------------------------- Problème ----------------------------%</a:t>
            </a:r>
          </a:p>
          <a:p>
            <a:pPr algn="l"/>
            <a:r>
              <a:rPr lang="fr-FR" sz="1800" dirty="0"/>
              <a:t>Malgré les avancées récentes, plusieurs défis persistent. D’une part, la forte dépendance aux données annotées limite la capacité de généralisation des modèles. D’autre part, les solutions actuelles répondent difficilement aux besoins spécifiques des personnes malvoyantes, comme la perception des couleurs ou l’interprétation du contexte. Il est donc essentiel de concevoir des systèmes performants, adaptables et compatibles avec des environnements à faibles ressources, tels que les appareils mobiles.</a:t>
            </a:r>
          </a:p>
        </p:txBody>
      </p:sp>
    </p:spTree>
    <p:extLst>
      <p:ext uri="{BB962C8B-B14F-4D97-AF65-F5344CB8AC3E}">
        <p14:creationId xmlns:p14="http://schemas.microsoft.com/office/powerpoint/2010/main" val="18116911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a:xfrm>
            <a:off x="0" y="0"/>
            <a:ext cx="12192000" cy="6858000"/>
          </a:xfrm>
        </p:spPr>
        <p:txBody>
          <a:bodyPr>
            <a:normAutofit lnSpcReduction="10000"/>
          </a:bodyPr>
          <a:lstStyle/>
          <a:p>
            <a:pPr algn="l"/>
            <a:r>
              <a:rPr lang="fr-FR" sz="1800" dirty="0"/>
              <a:t>%--------------------------- Solution proposée </a:t>
            </a:r>
            <a:r>
              <a:rPr lang="fr-FR" sz="1800" dirty="0" smtClean="0"/>
              <a:t>---------------------------%</a:t>
            </a:r>
          </a:p>
          <a:p>
            <a:pPr algn="l"/>
            <a:r>
              <a:rPr lang="fr-FR" sz="1800" dirty="0"/>
              <a:t>Cette étude propose une architecture hybride fondée sur le cadre </a:t>
            </a:r>
            <a:r>
              <a:rPr lang="fr-FR" sz="1800" dirty="0" err="1" smtClean="0"/>
              <a:t>VisionEncoderDecoder</a:t>
            </a:r>
            <a:r>
              <a:rPr lang="fr-FR" sz="1800" dirty="0" smtClean="0"/>
              <a:t> </a:t>
            </a:r>
            <a:r>
              <a:rPr lang="fr-FR" sz="1800" b="1" dirty="0" smtClean="0"/>
              <a:t>[4]</a:t>
            </a:r>
            <a:r>
              <a:rPr lang="fr-FR" sz="1800" dirty="0" smtClean="0"/>
              <a:t> </a:t>
            </a:r>
            <a:r>
              <a:rPr lang="fr-FR" sz="1800" dirty="0"/>
              <a:t>, combinant un encodeur visuel Vision Transformer (</a:t>
            </a:r>
            <a:r>
              <a:rPr lang="fr-FR" sz="1800" dirty="0" err="1"/>
              <a:t>ViT</a:t>
            </a:r>
            <a:r>
              <a:rPr lang="fr-FR" sz="1800" dirty="0" smtClean="0"/>
              <a:t>)</a:t>
            </a:r>
            <a:r>
              <a:rPr lang="fr-FR" sz="1800" b="1" dirty="0"/>
              <a:t> </a:t>
            </a:r>
            <a:r>
              <a:rPr lang="fr-FR" sz="1800" b="1" dirty="0" smtClean="0"/>
              <a:t>[5]</a:t>
            </a:r>
            <a:r>
              <a:rPr lang="fr-FR" sz="1800" dirty="0" smtClean="0"/>
              <a:t> </a:t>
            </a:r>
            <a:r>
              <a:rPr lang="fr-FR" sz="1800" dirty="0"/>
              <a:t>et un décodeur </a:t>
            </a:r>
            <a:r>
              <a:rPr lang="fr-FR" sz="1800" dirty="0" smtClean="0"/>
              <a:t>GPT-2 </a:t>
            </a:r>
            <a:r>
              <a:rPr lang="fr-FR" sz="1800" b="1" dirty="0" smtClean="0"/>
              <a:t>[6]</a:t>
            </a:r>
            <a:r>
              <a:rPr lang="fr-FR" sz="1800" dirty="0" smtClean="0"/>
              <a:t> </a:t>
            </a:r>
            <a:r>
              <a:rPr lang="fr-FR" sz="1800" dirty="0"/>
              <a:t>, avec des variantes adaptées aux capacités matérielles (légère, intermédiaire ou avancée). Deux approches sont étudiées </a:t>
            </a:r>
            <a:r>
              <a:rPr lang="fr-FR" sz="1800" dirty="0" smtClean="0"/>
              <a:t>: (</a:t>
            </a:r>
            <a:r>
              <a:rPr lang="fr-FR" sz="1800" dirty="0"/>
              <a:t>1) l’utilisation de modèles </a:t>
            </a:r>
            <a:r>
              <a:rPr lang="fr-FR" sz="1800" dirty="0" smtClean="0"/>
              <a:t>pré-entraînés </a:t>
            </a:r>
            <a:r>
              <a:rPr lang="fr-FR" sz="1800" dirty="0"/>
              <a:t>via </a:t>
            </a:r>
            <a:r>
              <a:rPr lang="fr-FR" sz="1800" dirty="0" err="1" smtClean="0"/>
              <a:t>HuggingFace</a:t>
            </a:r>
            <a:r>
              <a:rPr lang="fr-FR" sz="1800" dirty="0" smtClean="0"/>
              <a:t> </a:t>
            </a:r>
            <a:r>
              <a:rPr lang="fr-FR" sz="1800" b="1" dirty="0" smtClean="0"/>
              <a:t>[7]</a:t>
            </a:r>
            <a:r>
              <a:rPr lang="fr-FR" sz="1800" dirty="0" smtClean="0"/>
              <a:t> </a:t>
            </a:r>
            <a:r>
              <a:rPr lang="fr-FR" sz="1800" dirty="0"/>
              <a:t>, facilitant l’intégration sur divers systèmes </a:t>
            </a:r>
            <a:r>
              <a:rPr lang="fr-FR" sz="1800" dirty="0" smtClean="0"/>
              <a:t>; (</a:t>
            </a:r>
            <a:r>
              <a:rPr lang="fr-FR" sz="1800" dirty="0"/>
              <a:t>2) VisionGPT2, une architecture personnalisée développée en </a:t>
            </a:r>
            <a:r>
              <a:rPr lang="fr-FR" sz="1800" dirty="0" err="1"/>
              <a:t>PyTorch</a:t>
            </a:r>
            <a:r>
              <a:rPr lang="fr-FR" sz="1800" dirty="0"/>
              <a:t>, visant à optimiser la compréhension des liens </a:t>
            </a:r>
            <a:r>
              <a:rPr lang="fr-FR" sz="1800" dirty="0" smtClean="0"/>
              <a:t>image-texte. Ces </a:t>
            </a:r>
            <a:r>
              <a:rPr lang="fr-FR" sz="1800" dirty="0"/>
              <a:t>solutions ont pour objectif commun de générer des descriptions d’images précises et pertinentes, tout en restant </a:t>
            </a:r>
            <a:r>
              <a:rPr lang="fr-FR" sz="1800" dirty="0" smtClean="0"/>
              <a:t>accessibles </a:t>
            </a:r>
            <a:r>
              <a:rPr lang="fr-FR" sz="1800" dirty="0"/>
              <a:t>aux personnes malvoyantes et compatibles avec des dispositifs à ressources limitées</a:t>
            </a:r>
            <a:r>
              <a:rPr lang="fr-FR" sz="1800" dirty="0" smtClean="0"/>
              <a:t>.</a:t>
            </a:r>
          </a:p>
          <a:p>
            <a:pPr algn="l"/>
            <a:r>
              <a:rPr lang="fr-FR" sz="1800" dirty="0"/>
              <a:t>%--------------------------- Détails techniques des solutions </a:t>
            </a:r>
            <a:r>
              <a:rPr lang="fr-FR" sz="1800" dirty="0" smtClean="0"/>
              <a:t>----------------------------%</a:t>
            </a:r>
          </a:p>
          <a:p>
            <a:pPr algn="l"/>
            <a:r>
              <a:rPr lang="fr-FR" sz="1800" dirty="0"/>
              <a:t>Notre première méthode repose sur l'utilisation du modèle pré-entraîné ViT-base-patch16-224-in21k comme encodeur visuel, associé à </a:t>
            </a:r>
            <a:r>
              <a:rPr lang="fr-FR" sz="1800" dirty="0" smtClean="0"/>
              <a:t>GPT-2-</a:t>
            </a:r>
            <a:r>
              <a:rPr lang="fr-FR" sz="1800" dirty="0"/>
              <a:t> Medium</a:t>
            </a:r>
            <a:r>
              <a:rPr lang="fr-FR" sz="1800" dirty="0" smtClean="0"/>
              <a:t> </a:t>
            </a:r>
            <a:r>
              <a:rPr lang="fr-FR" sz="1800" dirty="0"/>
              <a:t>pour la génération de légendes textuelles. L’entraînement est effectué sur le jeu de données Flickr30k. Les images sont redimensionnées à 224×224 pixels et normalisées dans l’intervalle [0,1]. Les descriptions sont </a:t>
            </a:r>
            <a:r>
              <a:rPr lang="fr-FR" sz="1800" dirty="0" err="1"/>
              <a:t>tokenisées</a:t>
            </a:r>
            <a:r>
              <a:rPr lang="fr-FR" sz="1800" dirty="0"/>
              <a:t>, avec un masquage des </a:t>
            </a:r>
            <a:r>
              <a:rPr lang="fr-FR" sz="1800" dirty="0" err="1"/>
              <a:t>tokens</a:t>
            </a:r>
            <a:r>
              <a:rPr lang="fr-FR" sz="1800" dirty="0"/>
              <a:t> non pertinents (valeur −100) pour ne pas interférer avec la fonction de perte. Le modèle est entraîné sur 20 époques avec une taille de lot de 16. La seconde méthode utilise une architecture personnalisée combinant un encodeur </a:t>
            </a:r>
            <a:r>
              <a:rPr lang="fr-FR" sz="1800" dirty="0" err="1"/>
              <a:t>ViT</a:t>
            </a:r>
            <a:r>
              <a:rPr lang="fr-FR" sz="1800" dirty="0"/>
              <a:t> et le modèle </a:t>
            </a:r>
            <a:r>
              <a:rPr lang="fr-FR" sz="1800" dirty="0" smtClean="0"/>
              <a:t>GPT-2 comme </a:t>
            </a:r>
            <a:r>
              <a:rPr lang="fr-FR" sz="1800" dirty="0"/>
              <a:t>décodeur. Elle s’appuie sur le jeu de données MS COCO 2017. Les images sont normalisées dans l’intervalle [-1,1], et les légendes sont </a:t>
            </a:r>
            <a:r>
              <a:rPr lang="fr-FR" sz="1800" dirty="0" err="1"/>
              <a:t>tokenisées</a:t>
            </a:r>
            <a:r>
              <a:rPr lang="fr-FR" sz="1800" dirty="0"/>
              <a:t> à l’aide du </a:t>
            </a:r>
            <a:r>
              <a:rPr lang="fr-FR" sz="1800" dirty="0" err="1"/>
              <a:t>token</a:t>
            </a:r>
            <a:r>
              <a:rPr lang="fr-FR" sz="1800" dirty="0"/>
              <a:t> de fin de séquence (EOS). L’optimisation repose sur l’algorithme </a:t>
            </a:r>
            <a:r>
              <a:rPr lang="fr-FR" sz="1800" dirty="0" err="1"/>
              <a:t>AdamW</a:t>
            </a:r>
            <a:r>
              <a:rPr lang="fr-FR" sz="1800" dirty="0"/>
              <a:t>, un </a:t>
            </a:r>
            <a:r>
              <a:rPr lang="fr-FR" sz="1800" dirty="0" err="1"/>
              <a:t>scheduler</a:t>
            </a:r>
            <a:r>
              <a:rPr lang="fr-FR" sz="1800" dirty="0"/>
              <a:t> et l’utilisation de la précision mixte. L’apprentissage est également conduit sur 20 époques. Les performances sont évaluées à l’aide de la métrique </a:t>
            </a:r>
            <a:r>
              <a:rPr lang="fr-FR" sz="1800" dirty="0" smtClean="0"/>
              <a:t>ROUGE-2 </a:t>
            </a:r>
            <a:r>
              <a:rPr lang="fr-FR" sz="1800" b="1" dirty="0" smtClean="0"/>
              <a:t>[8]</a:t>
            </a:r>
            <a:r>
              <a:rPr lang="fr-FR" sz="1800" dirty="0" smtClean="0"/>
              <a:t>, </a:t>
            </a:r>
            <a:r>
              <a:rPr lang="fr-FR" sz="1800" dirty="0"/>
              <a:t>mesurant la correspondance entre les légendes générées et les références</a:t>
            </a:r>
            <a:r>
              <a:rPr lang="fr-FR" sz="1800" dirty="0" smtClean="0"/>
              <a:t>.</a:t>
            </a:r>
          </a:p>
          <a:p>
            <a:pPr algn="l"/>
            <a:r>
              <a:rPr lang="fr-FR" sz="1800" dirty="0"/>
              <a:t>%--------------------------- </a:t>
            </a:r>
            <a:r>
              <a:rPr lang="fr-FR" sz="1800" dirty="0" smtClean="0"/>
              <a:t> </a:t>
            </a:r>
            <a:r>
              <a:rPr lang="fr-FR" sz="1800" dirty="0"/>
              <a:t>----------------------------%</a:t>
            </a:r>
          </a:p>
          <a:p>
            <a:pPr algn="l"/>
            <a:endParaRPr lang="fr-FR" sz="1800" dirty="0" smtClean="0"/>
          </a:p>
          <a:p>
            <a:pPr algn="l"/>
            <a:r>
              <a:rPr lang="fr-FR" sz="1800" dirty="0"/>
              <a:t>Le reste de ce document est structuré comme suit </a:t>
            </a:r>
            <a:r>
              <a:rPr lang="fr-FR" sz="1800" dirty="0" smtClean="0"/>
              <a:t>: La </a:t>
            </a:r>
            <a:r>
              <a:rPr lang="fr-FR" sz="1800" dirty="0"/>
              <a:t>section II présente une revue de la théorie pertinente ainsi que de la littérature associée. La section III décrit le matériel et les méthodes utilisés pour réaliser ce travail. L'analyse et l'interprétation des résultats sont exposées dans la section IV. Enfin, les sections V et VI sont consacrées respectivement à la discussion et à la conclusion.</a:t>
            </a:r>
          </a:p>
        </p:txBody>
      </p:sp>
    </p:spTree>
    <p:extLst>
      <p:ext uri="{BB962C8B-B14F-4D97-AF65-F5344CB8AC3E}">
        <p14:creationId xmlns:p14="http://schemas.microsoft.com/office/powerpoint/2010/main" val="13679538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a:xfrm>
            <a:off x="0" y="0"/>
            <a:ext cx="12192000" cy="6858000"/>
          </a:xfrm>
        </p:spPr>
        <p:txBody>
          <a:bodyPr>
            <a:normAutofit/>
          </a:bodyPr>
          <a:lstStyle/>
          <a:p>
            <a:pPr algn="l"/>
            <a:r>
              <a:rPr lang="fr-FR" b="1" dirty="0" err="1" smtClean="0"/>
              <a:t>Related</a:t>
            </a:r>
            <a:r>
              <a:rPr lang="fr-FR" b="1" dirty="0" smtClean="0"/>
              <a:t> </a:t>
            </a:r>
            <a:r>
              <a:rPr lang="fr-FR" b="1" dirty="0" err="1" smtClean="0"/>
              <a:t>Work</a:t>
            </a:r>
            <a:endParaRPr lang="fr-FR" b="1" dirty="0" smtClean="0"/>
          </a:p>
          <a:p>
            <a:pPr algn="l"/>
            <a:r>
              <a:rPr lang="fr-FR" sz="1800" dirty="0"/>
              <a:t>Ces dernières années, les technologies d'assistance pour les personnes malvoyantes ont considérablement progressé, notamment dans les domaines de la navigation, de l'accès à l'information environnementale et de la description automatique d'images. Plusieurs approches récentes ont été développées pour répondre à ce défi. S. K. </a:t>
            </a:r>
            <a:r>
              <a:rPr lang="fr-FR" sz="1800" dirty="0" err="1"/>
              <a:t>Mishra</a:t>
            </a:r>
            <a:r>
              <a:rPr lang="fr-FR" sz="1800" dirty="0"/>
              <a:t> et al. </a:t>
            </a:r>
            <a:r>
              <a:rPr lang="fr-FR" sz="1800" b="1" dirty="0" smtClean="0"/>
              <a:t>[9] </a:t>
            </a:r>
            <a:r>
              <a:rPr lang="fr-FR" sz="1800" dirty="0"/>
              <a:t>introduisent un système combinant détection d’objets et architecture Transformer, utilisant GPT-2 pour produire des descriptions en hindi en exploitant les relations spatiales entre objets. J. Chen et al. </a:t>
            </a:r>
            <a:r>
              <a:rPr lang="fr-FR" sz="1800" b="1" dirty="0" smtClean="0"/>
              <a:t>[10] </a:t>
            </a:r>
            <a:r>
              <a:rPr lang="fr-FR" sz="1800" dirty="0"/>
              <a:t>présentent </a:t>
            </a:r>
            <a:r>
              <a:rPr lang="fr-FR" sz="1800" dirty="0" err="1"/>
              <a:t>VisualGPT</a:t>
            </a:r>
            <a:r>
              <a:rPr lang="fr-FR" sz="1800" dirty="0"/>
              <a:t>, un cadre d'apprentissage efficace à partir de peu de données, grâce à un mécanisme d’attention auto-restauré qui préserve les connaissances linguistiques tout en intégrant l’information visuelle. Y. Wang et al. </a:t>
            </a:r>
            <a:r>
              <a:rPr lang="fr-FR" sz="1800" b="1" dirty="0" smtClean="0"/>
              <a:t>[11] </a:t>
            </a:r>
            <a:r>
              <a:rPr lang="fr-FR" sz="1800" dirty="0"/>
              <a:t>proposent une solution légère fondée sur CLIP et GPT-2, capable de formuler des descriptions sans phase de pré-entraînement ni annotations supplémentaires. Dans le secteur de la mode, F. Colombo </a:t>
            </a:r>
            <a:r>
              <a:rPr lang="fr-FR" sz="1800" b="1" dirty="0" smtClean="0"/>
              <a:t>[12] </a:t>
            </a:r>
            <a:r>
              <a:rPr lang="fr-FR" sz="1800" dirty="0"/>
              <a:t>conçoit une architecture robuste combinant GPT-2, </a:t>
            </a:r>
            <a:r>
              <a:rPr lang="fr-FR" sz="1800" dirty="0" err="1"/>
              <a:t>ViT</a:t>
            </a:r>
            <a:r>
              <a:rPr lang="fr-FR" sz="1800" dirty="0"/>
              <a:t> et BERT, avec un objectif contrastif pour aligner les modalités visuelle et textuelle, démontrant une forte capacité de généralisation. Enfin, U. </a:t>
            </a:r>
            <a:r>
              <a:rPr lang="fr-FR" sz="1800" dirty="0" err="1"/>
              <a:t>Pietroni</a:t>
            </a:r>
            <a:r>
              <a:rPr lang="fr-FR" sz="1800" dirty="0"/>
              <a:t> </a:t>
            </a:r>
            <a:r>
              <a:rPr lang="fr-FR" sz="1800" b="1" dirty="0" smtClean="0"/>
              <a:t>[13] </a:t>
            </a:r>
            <a:r>
              <a:rPr lang="fr-FR" sz="1800" dirty="0"/>
              <a:t>automatise l’étiquetage et la génération de descriptions d’images vestimentaires en combinant des CNN avec GPT-2 et des métadonnées. Ces travaux reflètent la diversité des solutions actuelles en vision-langage et leur potentiel pour l'accessibilité.</a:t>
            </a:r>
            <a:endParaRPr lang="fr-FR" sz="1800" dirty="0" smtClean="0"/>
          </a:p>
        </p:txBody>
      </p:sp>
    </p:spTree>
    <p:extLst>
      <p:ext uri="{BB962C8B-B14F-4D97-AF65-F5344CB8AC3E}">
        <p14:creationId xmlns:p14="http://schemas.microsoft.com/office/powerpoint/2010/main" val="4975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a:xfrm>
            <a:off x="0" y="0"/>
            <a:ext cx="12192000" cy="6858000"/>
          </a:xfrm>
        </p:spPr>
        <p:txBody>
          <a:bodyPr>
            <a:normAutofit/>
          </a:bodyPr>
          <a:lstStyle/>
          <a:p>
            <a:pPr algn="l"/>
            <a:r>
              <a:rPr lang="fr-FR" b="1" dirty="0" smtClean="0"/>
              <a:t>A-</a:t>
            </a:r>
            <a:r>
              <a:rPr lang="fr-FR" dirty="0" smtClean="0"/>
              <a:t> </a:t>
            </a:r>
            <a:r>
              <a:rPr lang="fr-FR" b="1" dirty="0"/>
              <a:t>Présentation générale de l’architecture </a:t>
            </a:r>
            <a:r>
              <a:rPr lang="fr-FR" b="1" dirty="0" err="1"/>
              <a:t>VisionEncoderDecoder</a:t>
            </a:r>
            <a:endParaRPr lang="fr-FR" b="1" dirty="0" smtClean="0"/>
          </a:p>
          <a:p>
            <a:pPr algn="l"/>
            <a:r>
              <a:rPr lang="fr-FR" sz="1800" dirty="0" smtClean="0"/>
              <a:t>Nous avons mis en œuvre une architecture </a:t>
            </a:r>
            <a:r>
              <a:rPr lang="fr-FR" sz="1800" dirty="0" err="1" smtClean="0"/>
              <a:t>VisionEncoderDecoder</a:t>
            </a:r>
            <a:r>
              <a:rPr lang="fr-FR" sz="1800" dirty="0" smtClean="0"/>
              <a:t> combinant </a:t>
            </a:r>
            <a:r>
              <a:rPr lang="fr-FR" sz="1800" dirty="0" err="1" smtClean="0"/>
              <a:t>ViT</a:t>
            </a:r>
            <a:r>
              <a:rPr lang="fr-FR" sz="1800" dirty="0" smtClean="0"/>
              <a:t> (Vision Transformer) </a:t>
            </a:r>
            <a:r>
              <a:rPr lang="fr-FR" sz="1800" b="1" dirty="0" smtClean="0"/>
              <a:t>[14] </a:t>
            </a:r>
            <a:r>
              <a:rPr lang="fr-FR" sz="1800" dirty="0" smtClean="0"/>
              <a:t>pour l’extraction des caractéristiques visuelles et GPT-2 </a:t>
            </a:r>
            <a:r>
              <a:rPr lang="fr-FR" sz="1800" b="1" dirty="0"/>
              <a:t>[</a:t>
            </a:r>
            <a:r>
              <a:rPr lang="fr-FR" sz="1800" b="1" dirty="0" smtClean="0"/>
              <a:t>14]-[15] </a:t>
            </a:r>
            <a:r>
              <a:rPr lang="fr-FR" sz="1800" dirty="0" smtClean="0"/>
              <a:t>pour la génération </a:t>
            </a:r>
            <a:r>
              <a:rPr lang="fr-FR" sz="1800" dirty="0" err="1" smtClean="0"/>
              <a:t>autoregressive</a:t>
            </a:r>
            <a:r>
              <a:rPr lang="fr-FR" sz="1800" dirty="0" smtClean="0"/>
              <a:t> de légendes textuelles à l’aide de mécanismes d’attention multi-tête. Cette approche repose sur des modèles pré-entraînés open source proposés par </a:t>
            </a:r>
            <a:r>
              <a:rPr lang="fr-FR" sz="1800" dirty="0" err="1" smtClean="0"/>
              <a:t>HuggingFace</a:t>
            </a:r>
            <a:r>
              <a:rPr lang="fr-FR" sz="1800" dirty="0" smtClean="0"/>
              <a:t> </a:t>
            </a:r>
            <a:r>
              <a:rPr lang="fr-FR" sz="1800" b="1" dirty="0" smtClean="0"/>
              <a:t>[16]</a:t>
            </a:r>
            <a:r>
              <a:rPr lang="fr-FR" sz="1800" dirty="0" smtClean="0"/>
              <a:t>, intégrant la normalisation et l’encodage des images (640×640) via </a:t>
            </a:r>
            <a:r>
              <a:rPr lang="fr-FR" sz="1800" dirty="0" err="1" smtClean="0"/>
              <a:t>AutoFeatureExtractor</a:t>
            </a:r>
            <a:r>
              <a:rPr lang="fr-FR" sz="1800" dirty="0" smtClean="0"/>
              <a:t>. Les sorties produites par </a:t>
            </a:r>
            <a:r>
              <a:rPr lang="fr-FR" sz="1800" dirty="0" err="1" smtClean="0"/>
              <a:t>ViT</a:t>
            </a:r>
            <a:r>
              <a:rPr lang="fr-FR" sz="1800" dirty="0" smtClean="0"/>
              <a:t> (vit-base-patch16-224-in21k) alimentent ensuite GPT-2, utilisé dans un cadre Seq2Seq supervisé pour produire les légendes associées. L’ensemble du pipeline est géré à l’aide de l’API Seq2SeqTrainer, et son fonctionnement global est illustré dans la Figure </a:t>
            </a:r>
            <a:r>
              <a:rPr lang="fr-FR" sz="1800" b="1" dirty="0" smtClean="0"/>
              <a:t>1</a:t>
            </a:r>
            <a:r>
              <a:rPr lang="fr-FR" sz="1800" dirty="0" smtClean="0"/>
              <a:t>.</a:t>
            </a:r>
            <a:endParaRPr lang="fr-FR" sz="1800" dirty="0"/>
          </a:p>
        </p:txBody>
      </p:sp>
      <p:pic>
        <p:nvPicPr>
          <p:cNvPr id="4" name="Imag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69537" y="2684604"/>
            <a:ext cx="5922852" cy="3100560"/>
          </a:xfrm>
          <a:prstGeom prst="rect">
            <a:avLst/>
          </a:prstGeom>
        </p:spPr>
      </p:pic>
    </p:spTree>
    <p:extLst>
      <p:ext uri="{BB962C8B-B14F-4D97-AF65-F5344CB8AC3E}">
        <p14:creationId xmlns:p14="http://schemas.microsoft.com/office/powerpoint/2010/main" val="28483732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a:xfrm>
            <a:off x="0" y="0"/>
            <a:ext cx="12192000" cy="6858000"/>
          </a:xfrm>
        </p:spPr>
        <p:txBody>
          <a:bodyPr>
            <a:normAutofit/>
          </a:bodyPr>
          <a:lstStyle/>
          <a:p>
            <a:pPr algn="l"/>
            <a:r>
              <a:rPr lang="fr-FR" sz="1800" dirty="0">
                <a:solidFill>
                  <a:srgbClr val="00B050"/>
                </a:solidFill>
              </a:rPr>
              <a:t>1- Architecture générale du modèle </a:t>
            </a:r>
            <a:r>
              <a:rPr lang="fr-FR" sz="1800" dirty="0" err="1" smtClean="0">
                <a:solidFill>
                  <a:srgbClr val="00B050"/>
                </a:solidFill>
              </a:rPr>
              <a:t>VisionEncoderDecoder</a:t>
            </a:r>
            <a:endParaRPr lang="fr-FR" sz="1800" dirty="0" smtClean="0">
              <a:solidFill>
                <a:srgbClr val="00B050"/>
              </a:solidFill>
            </a:endParaRPr>
          </a:p>
          <a:p>
            <a:pPr algn="l"/>
            <a:r>
              <a:rPr lang="fr-FR" sz="1800" dirty="0" smtClean="0"/>
              <a:t>   </a:t>
            </a:r>
            <a:r>
              <a:rPr lang="fr-FR" sz="1800" b="1" dirty="0" smtClean="0"/>
              <a:t>a) </a:t>
            </a:r>
            <a:r>
              <a:rPr lang="fr-FR" sz="1800" b="1" dirty="0"/>
              <a:t>Encodeur visuel – </a:t>
            </a:r>
            <a:r>
              <a:rPr lang="fr-FR" sz="1800" b="1" dirty="0" err="1"/>
              <a:t>ViT</a:t>
            </a:r>
            <a:r>
              <a:rPr lang="fr-FR" sz="1800" b="1" dirty="0"/>
              <a:t> (Vision Transformer)</a:t>
            </a:r>
            <a:endParaRPr lang="fr-FR" sz="1800" b="1" dirty="0" smtClean="0"/>
          </a:p>
          <a:p>
            <a:pPr algn="l"/>
            <a:r>
              <a:rPr lang="fr-FR" sz="1800" dirty="0"/>
              <a:t>Dans cette étude, le modèle CLIP (Contrastive </a:t>
            </a:r>
            <a:r>
              <a:rPr lang="fr-FR" sz="1800" dirty="0" err="1"/>
              <a:t>Language</a:t>
            </a:r>
            <a:r>
              <a:rPr lang="fr-FR" sz="1800" dirty="0"/>
              <a:t>–Image </a:t>
            </a:r>
            <a:r>
              <a:rPr lang="fr-FR" sz="1800" dirty="0" err="1"/>
              <a:t>Pretraining</a:t>
            </a:r>
            <a:r>
              <a:rPr lang="fr-FR" sz="1800" dirty="0"/>
              <a:t>) repose sur une architecture d’encodeur visuel de type Vision Transformer (</a:t>
            </a:r>
            <a:r>
              <a:rPr lang="fr-FR" sz="1800" dirty="0" err="1"/>
              <a:t>ViT</a:t>
            </a:r>
            <a:r>
              <a:rPr lang="fr-FR" sz="1800" dirty="0"/>
              <a:t>), comme illustré dans la Figure 2. L’image d’entrée est segmentée en patchs de taille fixe, chacun aplati en un vecteur unidimensionnel, puis projeté dans un espace latent via une matrice d’</a:t>
            </a:r>
            <a:r>
              <a:rPr lang="fr-FR" sz="1800" dirty="0" err="1"/>
              <a:t>embedding</a:t>
            </a:r>
            <a:r>
              <a:rPr lang="fr-FR" sz="1800" dirty="0"/>
              <a:t> entraînable </a:t>
            </a:r>
            <a:r>
              <a:rPr lang="fr-FR" sz="1800" dirty="0" err="1"/>
              <a:t>EembE</a:t>
            </a:r>
            <a:r>
              <a:rPr lang="fr-FR" sz="1800" dirty="0"/>
              <a:t>_{\</a:t>
            </a:r>
            <a:r>
              <a:rPr lang="fr-FR" sz="1800" dirty="0" err="1"/>
              <a:t>text</a:t>
            </a:r>
            <a:r>
              <a:rPr lang="fr-FR" sz="1800" dirty="0"/>
              <a:t>{</a:t>
            </a:r>
            <a:r>
              <a:rPr lang="fr-FR" sz="1800" dirty="0" err="1"/>
              <a:t>emb</a:t>
            </a:r>
            <a:r>
              <a:rPr lang="fr-FR" sz="1800" dirty="0"/>
              <a:t>}}</a:t>
            </a:r>
            <a:r>
              <a:rPr lang="fr-FR" sz="1800" dirty="0" err="1"/>
              <a:t>Eemb</a:t>
            </a:r>
            <a:r>
              <a:rPr lang="fr-FR" sz="1800" dirty="0"/>
              <a:t>​, ce qui donne naissance aux </a:t>
            </a:r>
            <a:r>
              <a:rPr lang="fr-FR" sz="1800" dirty="0" err="1"/>
              <a:t>embeddings</a:t>
            </a:r>
            <a:r>
              <a:rPr lang="fr-FR" sz="1800" dirty="0"/>
              <a:t> des patchs. Un jeton de classification appris ([CLS]) est inséré au début de la séquence, accompagné d’un encodage positionnel pour chaque élément afin de préserver l’organisation spatiale. Cette séquence est ensuite traitée par un encodeur transformateur composé de blocs successifs, combinant des mécanismes d’auto-attention et des couches </a:t>
            </a:r>
            <a:r>
              <a:rPr lang="fr-FR" sz="1800" dirty="0" err="1"/>
              <a:t>feed-forward</a:t>
            </a:r>
            <a:r>
              <a:rPr lang="fr-FR" sz="1800" dirty="0"/>
              <a:t>. La représentation finale du jeton [CLS] est utilisée pour effectuer la classification de l’image, extrayant à la fois les caractéristiques locales et le contexte global selon </a:t>
            </a:r>
            <a:r>
              <a:rPr lang="fr-FR" sz="1800" b="1" dirty="0"/>
              <a:t>[17]-[18].</a:t>
            </a:r>
            <a:endParaRPr lang="fr-FR" sz="1800" b="1" dirty="0" smtClean="0"/>
          </a:p>
        </p:txBody>
      </p:sp>
      <p:pic>
        <p:nvPicPr>
          <p:cNvPr id="2" name="Imag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32499" y="3132499"/>
            <a:ext cx="6511328" cy="3256228"/>
          </a:xfrm>
          <a:prstGeom prst="rect">
            <a:avLst/>
          </a:prstGeom>
        </p:spPr>
      </p:pic>
    </p:spTree>
    <p:extLst>
      <p:ext uri="{BB962C8B-B14F-4D97-AF65-F5344CB8AC3E}">
        <p14:creationId xmlns:p14="http://schemas.microsoft.com/office/powerpoint/2010/main" val="42059788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a:xfrm>
            <a:off x="0" y="0"/>
            <a:ext cx="12192000" cy="6858000"/>
          </a:xfrm>
        </p:spPr>
        <p:txBody>
          <a:bodyPr>
            <a:normAutofit/>
          </a:bodyPr>
          <a:lstStyle/>
          <a:p>
            <a:pPr algn="l"/>
            <a:r>
              <a:rPr lang="fr-FR" sz="1800" dirty="0"/>
              <a:t>CLIP </a:t>
            </a:r>
            <a:r>
              <a:rPr lang="fr-FR" sz="1800" b="1" dirty="0" smtClean="0"/>
              <a:t>[19] </a:t>
            </a:r>
            <a:r>
              <a:rPr lang="fr-FR" sz="1800" dirty="0" smtClean="0"/>
              <a:t>adopte </a:t>
            </a:r>
            <a:r>
              <a:rPr lang="fr-FR" sz="1800" dirty="0"/>
              <a:t>une approche multimodale en combinant un encodeur visuel, basé soit sur Vision Transformer (</a:t>
            </a:r>
            <a:r>
              <a:rPr lang="fr-FR" sz="1800" dirty="0" err="1"/>
              <a:t>ViT</a:t>
            </a:r>
            <a:r>
              <a:rPr lang="fr-FR" sz="1800" dirty="0"/>
              <a:t>) soit sur une variante de l’architecture </a:t>
            </a:r>
            <a:r>
              <a:rPr lang="fr-FR" sz="1800" dirty="0" err="1"/>
              <a:t>ResNet</a:t>
            </a:r>
            <a:r>
              <a:rPr lang="fr-FR" sz="1800" dirty="0"/>
              <a:t> (</a:t>
            </a:r>
            <a:r>
              <a:rPr lang="fr-FR" sz="1800" dirty="0" err="1"/>
              <a:t>Residual</a:t>
            </a:r>
            <a:r>
              <a:rPr lang="fr-FR" sz="1800" dirty="0"/>
              <a:t> Networks), avec un encodeur textuel, afin d’associer efficacement le contenu visuel et linguistique — une capacité essentielle pour la génération de légendes descriptives. Dans notre étude, nous avons adapté cette architecture en y intégrant un décodeur GPT-2, permettant une génération complète et cohérente de descriptions à partir d’images</a:t>
            </a:r>
            <a:r>
              <a:rPr lang="fr-FR" sz="1800" dirty="0" smtClean="0"/>
              <a:t>.</a:t>
            </a:r>
          </a:p>
          <a:p>
            <a:pPr algn="l"/>
            <a:r>
              <a:rPr lang="fr-FR" sz="1800" b="1" dirty="0" smtClean="0"/>
              <a:t>b) </a:t>
            </a:r>
            <a:r>
              <a:rPr lang="fr-FR" sz="1800" b="1" dirty="0"/>
              <a:t>Décodeur textuel – GPT-2 (</a:t>
            </a:r>
            <a:r>
              <a:rPr lang="fr-FR" sz="1800" b="1" dirty="0" err="1"/>
              <a:t>Generative</a:t>
            </a:r>
            <a:r>
              <a:rPr lang="fr-FR" sz="1800" b="1" dirty="0"/>
              <a:t> </a:t>
            </a:r>
            <a:r>
              <a:rPr lang="fr-FR" sz="1800" b="1" dirty="0" err="1"/>
              <a:t>Pretrained</a:t>
            </a:r>
            <a:r>
              <a:rPr lang="fr-FR" sz="1800" b="1" dirty="0"/>
              <a:t> Transformer 2</a:t>
            </a:r>
            <a:r>
              <a:rPr lang="fr-FR" sz="1800" b="1" dirty="0" smtClean="0"/>
              <a:t>)</a:t>
            </a:r>
          </a:p>
          <a:p>
            <a:pPr algn="l"/>
            <a:r>
              <a:rPr lang="fr-FR" sz="1800" dirty="0" smtClean="0"/>
              <a:t>GPT-2 </a:t>
            </a:r>
            <a:r>
              <a:rPr lang="fr-FR" sz="1800" dirty="0"/>
              <a:t>(</a:t>
            </a:r>
            <a:r>
              <a:rPr lang="fr-FR" sz="1800" dirty="0" err="1"/>
              <a:t>Generative</a:t>
            </a:r>
            <a:r>
              <a:rPr lang="fr-FR" sz="1800" dirty="0"/>
              <a:t> </a:t>
            </a:r>
            <a:r>
              <a:rPr lang="fr-FR" sz="1800" dirty="0" err="1"/>
              <a:t>Pretrained</a:t>
            </a:r>
            <a:r>
              <a:rPr lang="fr-FR" sz="1800" dirty="0"/>
              <a:t> Transformer 2) </a:t>
            </a:r>
            <a:r>
              <a:rPr lang="fr-FR" sz="1800" b="1" dirty="0" smtClean="0"/>
              <a:t>[20] </a:t>
            </a:r>
            <a:r>
              <a:rPr lang="fr-FR" sz="1800" dirty="0" smtClean="0"/>
              <a:t>est </a:t>
            </a:r>
            <a:r>
              <a:rPr lang="fr-FR" sz="1800" dirty="0"/>
              <a:t>un modèle de langage avancé fondé sur une architecture de transformateurs, conçu pour le traitement du langage naturel. Il se distingue par sa capacité à produire des textes cohérents et pertinents, reflétant une compréhension contextuelle proche du raisonnement humain. Selon </a:t>
            </a:r>
            <a:r>
              <a:rPr lang="fr-FR" sz="1800" b="1" dirty="0" smtClean="0"/>
              <a:t>[21]</a:t>
            </a:r>
            <a:r>
              <a:rPr lang="fr-FR" sz="1800" dirty="0" smtClean="0"/>
              <a:t>, </a:t>
            </a:r>
            <a:r>
              <a:rPr lang="fr-FR" sz="1800" dirty="0"/>
              <a:t>le GPT est construit sur une architecture de décodeur à base de transformateurs composée de 12 couches empilées et tirant parti d'un mécanisme </a:t>
            </a:r>
            <a:r>
              <a:rPr lang="fr-FR" sz="1800" dirty="0" smtClean="0"/>
              <a:t>d'auto-attention </a:t>
            </a:r>
            <a:r>
              <a:rPr lang="fr-FR" sz="1800" b="1" dirty="0" smtClean="0"/>
              <a:t>[</a:t>
            </a:r>
            <a:r>
              <a:rPr lang="fr-FR" sz="1800" b="1" dirty="0"/>
              <a:t>22]- [</a:t>
            </a:r>
            <a:r>
              <a:rPr lang="fr-FR" sz="1800" b="1" dirty="0" smtClean="0"/>
              <a:t>23]</a:t>
            </a:r>
            <a:r>
              <a:rPr lang="fr-FR" sz="1800" dirty="0" smtClean="0"/>
              <a:t>. </a:t>
            </a:r>
            <a:r>
              <a:rPr lang="fr-FR" sz="1800" dirty="0"/>
              <a:t>La structure globale du modèle est présentée à la figure </a:t>
            </a:r>
            <a:r>
              <a:rPr lang="fr-FR" sz="1800" b="1" dirty="0"/>
              <a:t>3</a:t>
            </a:r>
            <a:r>
              <a:rPr lang="fr-FR" sz="1800" dirty="0" smtClean="0"/>
              <a:t>.</a:t>
            </a:r>
          </a:p>
          <a:p>
            <a:pPr algn="l"/>
            <a:endParaRPr lang="fr-FR" sz="1800" b="1" dirty="0" smtClean="0"/>
          </a:p>
          <a:p>
            <a:pPr algn="l"/>
            <a:endParaRPr lang="fr-FR" sz="1800" b="1" dirty="0"/>
          </a:p>
          <a:p>
            <a:pPr algn="l"/>
            <a:endParaRPr lang="fr-FR" sz="1800" dirty="0"/>
          </a:p>
        </p:txBody>
      </p:sp>
      <p:pic>
        <p:nvPicPr>
          <p:cNvPr id="2" name="Imag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89283" y="3116655"/>
            <a:ext cx="2325232" cy="3487848"/>
          </a:xfrm>
          <a:prstGeom prst="rect">
            <a:avLst/>
          </a:prstGeom>
        </p:spPr>
      </p:pic>
    </p:spTree>
    <p:extLst>
      <p:ext uri="{BB962C8B-B14F-4D97-AF65-F5344CB8AC3E}">
        <p14:creationId xmlns:p14="http://schemas.microsoft.com/office/powerpoint/2010/main" val="21320606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a:xfrm>
            <a:off x="0" y="0"/>
            <a:ext cx="12192000" cy="6858000"/>
          </a:xfrm>
        </p:spPr>
        <p:txBody>
          <a:bodyPr>
            <a:normAutofit/>
          </a:bodyPr>
          <a:lstStyle/>
          <a:p>
            <a:pPr algn="l"/>
            <a:r>
              <a:rPr lang="fr-FR" sz="1800" dirty="0"/>
              <a:t>L’un des composants fondamentaux de ce transformateur est le mécanisme d’auto-attention. L’apprentissage s’effectue en deux phases. La première correspond à un pré-entraînement non supervisé, durant lequel les données textuelles sont transformées en séquences de jetons (représentées par </a:t>
            </a:r>
            <a:r>
              <a:rPr lang="fr-FR" sz="1800" dirty="0" smtClean="0"/>
              <a:t>U), </a:t>
            </a:r>
            <a:r>
              <a:rPr lang="fr-FR" sz="1800" dirty="0"/>
              <a:t>indépendamment des étiquettes. Pour chaque jeton d’entrée, le modèle estime un score d’attention en maximisant une fonction de vraisemblance </a:t>
            </a:r>
            <a:r>
              <a:rPr lang="fr-FR" sz="1800" dirty="0" smtClean="0"/>
              <a:t>L1​</a:t>
            </a:r>
            <a:r>
              <a:rPr lang="fr-FR" sz="1800" dirty="0"/>
              <a:t>, à l’aide d’une architecture multi-têtes. Ce traitement permet de produire une distribution de probabilité sur les jetons cibles via une couche </a:t>
            </a:r>
            <a:r>
              <a:rPr lang="fr-FR" sz="1800" dirty="0" err="1" smtClean="0"/>
              <a:t>feed-forward</a:t>
            </a:r>
            <a:r>
              <a:rPr lang="fr-FR" sz="1800" dirty="0" smtClean="0"/>
              <a:t>. La </a:t>
            </a:r>
            <a:r>
              <a:rPr lang="fr-FR" sz="1800" dirty="0"/>
              <a:t>seconde phase repose sur un ajustement supervisé (</a:t>
            </a:r>
            <a:r>
              <a:rPr lang="fr-FR" sz="1800" i="1" dirty="0"/>
              <a:t>fine-</a:t>
            </a:r>
            <a:r>
              <a:rPr lang="fr-FR" sz="1800" i="1" dirty="0" err="1"/>
              <a:t>tuning</a:t>
            </a:r>
            <a:r>
              <a:rPr lang="fr-FR" sz="1800" dirty="0"/>
              <a:t>), où le modèle pré-entraîné est adapté à une tâche de prédiction spécifique.</a:t>
            </a:r>
          </a:p>
          <a:p>
            <a:pPr algn="l"/>
            <a:r>
              <a:rPr lang="fr-FR" sz="1800" b="1" dirty="0" smtClean="0"/>
              <a:t>c</a:t>
            </a:r>
            <a:r>
              <a:rPr lang="fr-FR" sz="1800" b="1" dirty="0"/>
              <a:t>) Pipeline complet de génération de descriptions </a:t>
            </a:r>
            <a:r>
              <a:rPr lang="fr-FR" sz="1800" b="1" dirty="0" smtClean="0"/>
              <a:t>visuelles</a:t>
            </a:r>
          </a:p>
          <a:p>
            <a:pPr algn="l"/>
            <a:r>
              <a:rPr lang="fr-FR" sz="1800" dirty="0" smtClean="0"/>
              <a:t>Dans </a:t>
            </a:r>
            <a:r>
              <a:rPr lang="fr-FR" sz="1800" dirty="0"/>
              <a:t>cette étude, nous avons mis en œuvre une architecture de type \</a:t>
            </a:r>
            <a:r>
              <a:rPr lang="fr-FR" sz="1800" dirty="0" err="1"/>
              <a:t>textbf</a:t>
            </a:r>
            <a:r>
              <a:rPr lang="fr-FR" sz="1800" dirty="0"/>
              <a:t>{</a:t>
            </a:r>
            <a:r>
              <a:rPr lang="fr-FR" sz="1800" dirty="0" err="1"/>
              <a:t>VisionEncoderDecoder</a:t>
            </a:r>
            <a:r>
              <a:rPr lang="fr-FR" sz="1800" dirty="0"/>
              <a:t>} combinant un \</a:t>
            </a:r>
            <a:r>
              <a:rPr lang="fr-FR" sz="1800" dirty="0" err="1"/>
              <a:t>textbf</a:t>
            </a:r>
            <a:r>
              <a:rPr lang="fr-FR" sz="1800" dirty="0"/>
              <a:t>{Vision Transformer (</a:t>
            </a:r>
            <a:r>
              <a:rPr lang="fr-FR" sz="1800" dirty="0" err="1"/>
              <a:t>ViT</a:t>
            </a:r>
            <a:r>
              <a:rPr lang="fr-FR" sz="1800" dirty="0"/>
              <a:t>)} comme encodeur visuel et \</a:t>
            </a:r>
            <a:r>
              <a:rPr lang="fr-FR" sz="1800" dirty="0" err="1"/>
              <a:t>textbf</a:t>
            </a:r>
            <a:r>
              <a:rPr lang="fr-FR" sz="1800" dirty="0"/>
              <a:t>{GPT-2} comme décodeur textuel. L’image d’entrée $I \in \</a:t>
            </a:r>
            <a:r>
              <a:rPr lang="fr-FR" sz="1800" dirty="0" err="1"/>
              <a:t>mathbb</a:t>
            </a:r>
            <a:r>
              <a:rPr lang="fr-FR" sz="1800" dirty="0"/>
              <a:t>{R}^{H \times W \times C}$ est d’abord divisée en patchs fixes, chacun étant aplati et projeté dans un espace latent. Ces représentations, enrichies d’un jeton de classification $[\</a:t>
            </a:r>
            <a:r>
              <a:rPr lang="fr-FR" sz="1800" dirty="0" err="1"/>
              <a:t>text</a:t>
            </a:r>
            <a:r>
              <a:rPr lang="fr-FR" sz="1800" dirty="0"/>
              <a:t>{CLS}]$ et d’un encodage positionnel, sont ensuite traitées par l’encodeur </a:t>
            </a:r>
            <a:r>
              <a:rPr lang="fr-FR" sz="1800" dirty="0" err="1"/>
              <a:t>ViT</a:t>
            </a:r>
            <a:r>
              <a:rPr lang="fr-FR" sz="1800" dirty="0"/>
              <a:t> pour produire une représentation contextuelle $Z</a:t>
            </a:r>
            <a:r>
              <a:rPr lang="fr-FR" sz="1800" dirty="0" smtClean="0"/>
              <a:t>$. Cette </a:t>
            </a:r>
            <a:r>
              <a:rPr lang="fr-FR" sz="1800" dirty="0"/>
              <a:t>sortie est transmise au décodeur GPT-2, qui génère de manière </a:t>
            </a:r>
            <a:r>
              <a:rPr lang="fr-FR" sz="1800" dirty="0" err="1"/>
              <a:t>autoregressive</a:t>
            </a:r>
            <a:r>
              <a:rPr lang="fr-FR" sz="1800" dirty="0"/>
              <a:t> une séquence de mots $\{w_1, w_2, \dots, </a:t>
            </a:r>
            <a:r>
              <a:rPr lang="fr-FR" sz="1800" dirty="0" err="1"/>
              <a:t>w_T</a:t>
            </a:r>
            <a:r>
              <a:rPr lang="fr-FR" sz="1800" dirty="0"/>
              <a:t>\}$, en prédisant chaque mot $</a:t>
            </a:r>
            <a:r>
              <a:rPr lang="fr-FR" sz="1800" dirty="0" err="1"/>
              <a:t>w_t</a:t>
            </a:r>
            <a:r>
              <a:rPr lang="fr-FR" sz="1800" dirty="0"/>
              <a:t>$ à partir des mots précédents $w_{&lt;t}$ et du vecteur $Z$. Le modèle est entraîné en minimisant la fonction de perte basée sur la log-vraisemblance négative :</a:t>
            </a:r>
          </a:p>
          <a:p>
            <a:pPr algn="l"/>
            <a:endParaRPr lang="fr-FR" sz="1800" b="1" dirty="0"/>
          </a:p>
          <a:p>
            <a:pPr algn="l"/>
            <a:endParaRPr lang="fr-FR" sz="1800" dirty="0" smtClean="0"/>
          </a:p>
          <a:p>
            <a:pPr algn="l"/>
            <a:endParaRPr lang="fr-FR" sz="1800" dirty="0" smtClean="0"/>
          </a:p>
          <a:p>
            <a:pPr algn="l"/>
            <a:r>
              <a:rPr lang="fr-FR" sz="1800" dirty="0" smtClean="0"/>
              <a:t>Cette </a:t>
            </a:r>
            <a:r>
              <a:rPr lang="fr-FR" sz="1800" dirty="0"/>
              <a:t>formulation garantit une cohérence sémantique entre le contenu visuel et la légende générée, en tirant pleinement parti de la puissance des architectures Transformer dans les deux modalités (visuelle et textuelle). Pour faciliter la compréhension du fonctionnement global du modèle, un schéma explicatif a été élaboré et est présenté à la Figure </a:t>
            </a:r>
            <a:r>
              <a:rPr lang="fr-FR" sz="1800" b="1" dirty="0"/>
              <a:t>4</a:t>
            </a:r>
            <a:r>
              <a:rPr lang="fr-FR" sz="1800" dirty="0"/>
              <a:t>.</a:t>
            </a:r>
            <a:endParaRPr lang="fr-FR" sz="1800" b="1" dirty="0" smtClean="0"/>
          </a:p>
          <a:p>
            <a:pPr algn="l"/>
            <a:endParaRPr lang="fr-FR" sz="1800" b="1" dirty="0"/>
          </a:p>
          <a:p>
            <a:pPr algn="l"/>
            <a:endParaRPr lang="fr-FR" sz="1800" dirty="0"/>
          </a:p>
        </p:txBody>
      </p:sp>
      <p:pic>
        <p:nvPicPr>
          <p:cNvPr id="4" name="Image 3"/>
          <p:cNvPicPr>
            <a:picLocks noChangeAspect="1"/>
          </p:cNvPicPr>
          <p:nvPr/>
        </p:nvPicPr>
        <p:blipFill>
          <a:blip r:embed="rId2"/>
          <a:stretch>
            <a:fillRect/>
          </a:stretch>
        </p:blipFill>
        <p:spPr>
          <a:xfrm>
            <a:off x="3662503" y="3823344"/>
            <a:ext cx="3581400" cy="1076325"/>
          </a:xfrm>
          <a:prstGeom prst="rect">
            <a:avLst/>
          </a:prstGeom>
        </p:spPr>
      </p:pic>
    </p:spTree>
    <p:extLst>
      <p:ext uri="{BB962C8B-B14F-4D97-AF65-F5344CB8AC3E}">
        <p14:creationId xmlns:p14="http://schemas.microsoft.com/office/powerpoint/2010/main" val="10192797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a:xfrm>
            <a:off x="0" y="0"/>
            <a:ext cx="12192000" cy="6858000"/>
          </a:xfrm>
        </p:spPr>
        <p:txBody>
          <a:bodyPr>
            <a:normAutofit/>
          </a:bodyPr>
          <a:lstStyle/>
          <a:p>
            <a:pPr algn="l"/>
            <a:endParaRPr lang="fr-FR" sz="1800" b="1" dirty="0"/>
          </a:p>
          <a:p>
            <a:pPr algn="l"/>
            <a:endParaRPr lang="fr-FR" sz="1800" b="1" dirty="0" smtClean="0"/>
          </a:p>
          <a:p>
            <a:pPr algn="l"/>
            <a:endParaRPr lang="fr-FR" sz="1800" b="1" dirty="0"/>
          </a:p>
          <a:p>
            <a:pPr algn="l"/>
            <a:endParaRPr lang="fr-FR" sz="1800" dirty="0"/>
          </a:p>
        </p:txBody>
      </p:sp>
      <p:sp>
        <p:nvSpPr>
          <p:cNvPr id="5" name="Rectangle 4"/>
          <p:cNvSpPr/>
          <p:nvPr/>
        </p:nvSpPr>
        <p:spPr>
          <a:xfrm>
            <a:off x="244692" y="3429000"/>
            <a:ext cx="12077074" cy="5078313"/>
          </a:xfrm>
          <a:prstGeom prst="rect">
            <a:avLst/>
          </a:prstGeom>
        </p:spPr>
        <p:txBody>
          <a:bodyPr wrap="square">
            <a:spAutoFit/>
          </a:bodyPr>
          <a:lstStyle/>
          <a:p>
            <a:r>
              <a:rPr lang="fr-FR" dirty="0" smtClean="0">
                <a:solidFill>
                  <a:srgbClr val="00B050"/>
                </a:solidFill>
              </a:rPr>
              <a:t>2- </a:t>
            </a:r>
            <a:r>
              <a:rPr lang="fr-FR" dirty="0">
                <a:solidFill>
                  <a:srgbClr val="00B050"/>
                </a:solidFill>
              </a:rPr>
              <a:t>2. Comparaison des approches de génération de légendes</a:t>
            </a:r>
            <a:endParaRPr lang="fr-FR" dirty="0" smtClean="0">
              <a:solidFill>
                <a:srgbClr val="00B050"/>
              </a:solidFill>
            </a:endParaRPr>
          </a:p>
          <a:p>
            <a:r>
              <a:rPr lang="fr-FR" dirty="0" smtClean="0"/>
              <a:t>Dans </a:t>
            </a:r>
            <a:r>
              <a:rPr lang="fr-FR" dirty="0"/>
              <a:t>notre étude, nous avons exploré deux méthodes partageant une structure commune encodeur–décodeur, mais différant par leurs approches d'entraînement, dans le but d’optimiser la génération de sous-titres à l’aide du modèle GPT-2.</a:t>
            </a:r>
          </a:p>
          <a:p>
            <a:r>
              <a:rPr lang="fr-FR" dirty="0"/>
              <a:t>La première, </a:t>
            </a:r>
            <a:r>
              <a:rPr lang="fr-FR" b="1" dirty="0"/>
              <a:t>Image-captioning-using-ViT-and-GPT-2</a:t>
            </a:r>
            <a:r>
              <a:rPr lang="fr-FR" dirty="0"/>
              <a:t>, est conçue pour aider les personnes malvoyantes en produisant des légendes d’images multilingues et sensibles aux </a:t>
            </a:r>
            <a:r>
              <a:rPr lang="fr-FR" dirty="0" smtClean="0"/>
              <a:t>couleurs. La </a:t>
            </a:r>
            <a:r>
              <a:rPr lang="fr-FR" dirty="0"/>
              <a:t>seconde, </a:t>
            </a:r>
            <a:r>
              <a:rPr lang="fr-FR" b="1" dirty="0"/>
              <a:t>VisionGPT2</a:t>
            </a:r>
            <a:r>
              <a:rPr lang="fr-FR" dirty="0"/>
              <a:t>, repose sur la conception d’une architecture multimodale développée entièrement depuis zéro, afin d’approfondir la compréhension des interactions entre image et texte.</a:t>
            </a:r>
          </a:p>
          <a:p>
            <a:r>
              <a:rPr lang="fr-FR" dirty="0"/>
              <a:t>Le </a:t>
            </a:r>
            <a:r>
              <a:rPr lang="fr-FR" b="1" dirty="0"/>
              <a:t>Tableau 1</a:t>
            </a:r>
            <a:r>
              <a:rPr lang="fr-FR" dirty="0"/>
              <a:t> présente une comparaison détaillée de ces deux approches, en mettant en évidence le rôle spécifique de chaque modèle.</a:t>
            </a:r>
          </a:p>
          <a:p>
            <a:endParaRPr lang="fr-FR" dirty="0">
              <a:solidFill>
                <a:srgbClr val="00B050"/>
              </a:solidFill>
            </a:endParaRPr>
          </a:p>
          <a:p>
            <a:endParaRPr lang="fr-FR" dirty="0" smtClean="0">
              <a:solidFill>
                <a:srgbClr val="00B050"/>
              </a:solidFill>
            </a:endParaRPr>
          </a:p>
          <a:p>
            <a:endParaRPr lang="fr-FR" dirty="0">
              <a:solidFill>
                <a:srgbClr val="00B050"/>
              </a:solidFill>
            </a:endParaRPr>
          </a:p>
          <a:p>
            <a:endParaRPr lang="fr-FR" dirty="0" smtClean="0">
              <a:solidFill>
                <a:srgbClr val="00B050"/>
              </a:solidFill>
            </a:endParaRPr>
          </a:p>
          <a:p>
            <a:endParaRPr lang="fr-FR" dirty="0">
              <a:solidFill>
                <a:srgbClr val="00B050"/>
              </a:solidFill>
            </a:endParaRPr>
          </a:p>
          <a:p>
            <a:endParaRPr lang="fr-FR" dirty="0" smtClean="0">
              <a:solidFill>
                <a:srgbClr val="00B050"/>
              </a:solidFill>
            </a:endParaRPr>
          </a:p>
          <a:p>
            <a:endParaRPr lang="fr-FR" dirty="0">
              <a:solidFill>
                <a:srgbClr val="00B050"/>
              </a:solidFill>
            </a:endParaRPr>
          </a:p>
          <a:p>
            <a:endParaRPr lang="fr-FR" dirty="0" smtClean="0">
              <a:solidFill>
                <a:srgbClr val="00B050"/>
              </a:solidFill>
            </a:endParaRPr>
          </a:p>
          <a:p>
            <a:endParaRPr lang="fr-FR" dirty="0">
              <a:solidFill>
                <a:srgbClr val="00B050"/>
              </a:solidFill>
            </a:endParaRPr>
          </a:p>
          <a:p>
            <a:endParaRPr lang="fr-FR" dirty="0">
              <a:solidFill>
                <a:srgbClr val="00B050"/>
              </a:solidFill>
            </a:endParaRPr>
          </a:p>
        </p:txBody>
      </p:sp>
      <p:pic>
        <p:nvPicPr>
          <p:cNvPr id="4" name="Imag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11528" y="469522"/>
            <a:ext cx="5768944" cy="2807834"/>
          </a:xfrm>
          <a:prstGeom prst="rect">
            <a:avLst/>
          </a:prstGeom>
        </p:spPr>
      </p:pic>
    </p:spTree>
    <p:extLst>
      <p:ext uri="{BB962C8B-B14F-4D97-AF65-F5344CB8AC3E}">
        <p14:creationId xmlns:p14="http://schemas.microsoft.com/office/powerpoint/2010/main" val="19165129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a:xfrm>
            <a:off x="0" y="0"/>
            <a:ext cx="12192000" cy="6858000"/>
          </a:xfrm>
        </p:spPr>
        <p:txBody>
          <a:bodyPr>
            <a:normAutofit/>
          </a:bodyPr>
          <a:lstStyle/>
          <a:p>
            <a:pPr algn="l"/>
            <a:endParaRPr lang="fr-FR" sz="1800" b="1" dirty="0"/>
          </a:p>
          <a:p>
            <a:pPr algn="l"/>
            <a:endParaRPr lang="fr-FR" sz="1800" b="1" dirty="0" smtClean="0"/>
          </a:p>
          <a:p>
            <a:pPr algn="l"/>
            <a:endParaRPr lang="fr-FR" sz="1800" b="1" dirty="0"/>
          </a:p>
          <a:p>
            <a:pPr algn="l"/>
            <a:endParaRPr lang="fr-FR" sz="1800" dirty="0"/>
          </a:p>
        </p:txBody>
      </p:sp>
      <p:sp>
        <p:nvSpPr>
          <p:cNvPr id="5" name="Rectangle 4"/>
          <p:cNvSpPr/>
          <p:nvPr/>
        </p:nvSpPr>
        <p:spPr>
          <a:xfrm>
            <a:off x="244692" y="3429000"/>
            <a:ext cx="12077074" cy="2862322"/>
          </a:xfrm>
          <a:prstGeom prst="rect">
            <a:avLst/>
          </a:prstGeom>
        </p:spPr>
        <p:txBody>
          <a:bodyPr wrap="square">
            <a:spAutoFit/>
          </a:bodyPr>
          <a:lstStyle/>
          <a:p>
            <a:endParaRPr lang="fr-FR" dirty="0">
              <a:solidFill>
                <a:srgbClr val="00B050"/>
              </a:solidFill>
            </a:endParaRPr>
          </a:p>
          <a:p>
            <a:endParaRPr lang="fr-FR" dirty="0" smtClean="0">
              <a:solidFill>
                <a:srgbClr val="00B050"/>
              </a:solidFill>
            </a:endParaRPr>
          </a:p>
          <a:p>
            <a:endParaRPr lang="fr-FR" dirty="0">
              <a:solidFill>
                <a:srgbClr val="00B050"/>
              </a:solidFill>
            </a:endParaRPr>
          </a:p>
          <a:p>
            <a:endParaRPr lang="fr-FR" dirty="0" smtClean="0">
              <a:solidFill>
                <a:srgbClr val="00B050"/>
              </a:solidFill>
            </a:endParaRPr>
          </a:p>
          <a:p>
            <a:endParaRPr lang="fr-FR" dirty="0">
              <a:solidFill>
                <a:srgbClr val="00B050"/>
              </a:solidFill>
            </a:endParaRPr>
          </a:p>
          <a:p>
            <a:endParaRPr lang="fr-FR" dirty="0" smtClean="0">
              <a:solidFill>
                <a:srgbClr val="00B050"/>
              </a:solidFill>
            </a:endParaRPr>
          </a:p>
          <a:p>
            <a:endParaRPr lang="fr-FR" dirty="0">
              <a:solidFill>
                <a:srgbClr val="00B050"/>
              </a:solidFill>
            </a:endParaRPr>
          </a:p>
          <a:p>
            <a:endParaRPr lang="fr-FR" dirty="0" smtClean="0">
              <a:solidFill>
                <a:srgbClr val="00B050"/>
              </a:solidFill>
            </a:endParaRPr>
          </a:p>
          <a:p>
            <a:endParaRPr lang="fr-FR" dirty="0">
              <a:solidFill>
                <a:srgbClr val="00B050"/>
              </a:solidFill>
            </a:endParaRPr>
          </a:p>
          <a:p>
            <a:endParaRPr lang="fr-FR" dirty="0">
              <a:solidFill>
                <a:srgbClr val="00B050"/>
              </a:solidFill>
            </a:endParaRPr>
          </a:p>
        </p:txBody>
      </p:sp>
      <p:pic>
        <p:nvPicPr>
          <p:cNvPr id="6" name="Image 5"/>
          <p:cNvPicPr>
            <a:picLocks noChangeAspect="1"/>
          </p:cNvPicPr>
          <p:nvPr/>
        </p:nvPicPr>
        <p:blipFill>
          <a:blip r:embed="rId2"/>
          <a:stretch>
            <a:fillRect/>
          </a:stretch>
        </p:blipFill>
        <p:spPr>
          <a:xfrm>
            <a:off x="1919287" y="589064"/>
            <a:ext cx="8353425" cy="5962650"/>
          </a:xfrm>
          <a:prstGeom prst="rect">
            <a:avLst/>
          </a:prstGeom>
        </p:spPr>
      </p:pic>
    </p:spTree>
    <p:extLst>
      <p:ext uri="{BB962C8B-B14F-4D97-AF65-F5344CB8AC3E}">
        <p14:creationId xmlns:p14="http://schemas.microsoft.com/office/powerpoint/2010/main" val="4099998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a:xfrm>
            <a:off x="0" y="0"/>
            <a:ext cx="12192000" cy="6858000"/>
          </a:xfrm>
        </p:spPr>
        <p:txBody>
          <a:bodyPr>
            <a:normAutofit/>
          </a:bodyPr>
          <a:lstStyle/>
          <a:p>
            <a:pPr algn="l"/>
            <a:r>
              <a:rPr lang="fr-FR" sz="1800" b="1" dirty="0"/>
              <a:t>2.1 Méthode 1 : </a:t>
            </a:r>
            <a:r>
              <a:rPr lang="fr-FR" sz="1800" b="1" dirty="0" smtClean="0"/>
              <a:t>Image-captioning-using-ViT-and-GPT-2</a:t>
            </a:r>
          </a:p>
          <a:p>
            <a:pPr algn="l"/>
            <a:endParaRPr lang="fr-FR" sz="1800" b="1" dirty="0" smtClean="0"/>
          </a:p>
          <a:p>
            <a:pPr algn="l"/>
            <a:r>
              <a:rPr lang="fr-FR" sz="1800" dirty="0" smtClean="0"/>
              <a:t>Dans cette première méthode, nous avons choisi d’exploiter des modèles </a:t>
            </a:r>
            <a:r>
              <a:rPr lang="fr-FR" sz="1800" dirty="0" err="1" smtClean="0"/>
              <a:t>préentraînés</a:t>
            </a:r>
            <a:r>
              <a:rPr lang="fr-FR" sz="1800" dirty="0" smtClean="0"/>
              <a:t> pour concevoir un système de génération automatique de légendes d’images. Le Vision Transformer (</a:t>
            </a:r>
            <a:r>
              <a:rPr lang="fr-FR" sz="1800" dirty="0" err="1" smtClean="0"/>
              <a:t>ViT</a:t>
            </a:r>
            <a:r>
              <a:rPr lang="fr-FR" sz="1800" dirty="0" smtClean="0"/>
              <a:t>), dans sa version </a:t>
            </a:r>
            <a:r>
              <a:rPr lang="fr-FR" sz="1800" b="1" dirty="0" smtClean="0"/>
              <a:t>vit-base-patch16-224-in21k</a:t>
            </a:r>
            <a:r>
              <a:rPr lang="fr-FR" sz="1800" dirty="0" smtClean="0"/>
              <a:t>, est utilisé comme encodeur visuel afin d’extraire les caractéristiques pertinentes de chaque image. La génération textuelle est assurée par </a:t>
            </a:r>
            <a:r>
              <a:rPr lang="fr-FR" sz="1800" b="1" dirty="0" smtClean="0"/>
              <a:t>GPT-2_Medium</a:t>
            </a:r>
            <a:r>
              <a:rPr lang="fr-FR" sz="1800" dirty="0" smtClean="0"/>
              <a:t>, intégré via l’API </a:t>
            </a:r>
            <a:r>
              <a:rPr lang="fr-FR" sz="1800" dirty="0" err="1" smtClean="0"/>
              <a:t>VisionEncoderDecoderModel</a:t>
            </a:r>
            <a:r>
              <a:rPr lang="fr-FR" sz="1800" dirty="0" smtClean="0"/>
              <a:t> proposée par la bibliothèque </a:t>
            </a:r>
            <a:r>
              <a:rPr lang="fr-FR" sz="1800" dirty="0" err="1" smtClean="0"/>
              <a:t>HuggingFace</a:t>
            </a:r>
            <a:r>
              <a:rPr lang="fr-FR" sz="1800" dirty="0" smtClean="0"/>
              <a:t>. Cette approche privilégie une mise en œuvre orientée vers la pratique, avec un accent particulier sur l’accessibilité et l’inclusion, notamment à destination des personnes malvoyantes. L’objectif est de produire des descriptions d’images précises, explicites et facilement compréhensibles par un large éventail d’utilisateurs. Pour cette méthode, l’ensemble de données </a:t>
            </a:r>
            <a:r>
              <a:rPr lang="fr-FR" sz="1800" b="1" dirty="0" smtClean="0"/>
              <a:t>Flickr30k</a:t>
            </a:r>
            <a:r>
              <a:rPr lang="fr-FR" sz="1800" dirty="0" smtClean="0"/>
              <a:t> a été utilisé comme base d’entraînement et d’évaluation.</a:t>
            </a:r>
          </a:p>
          <a:p>
            <a:pPr algn="l"/>
            <a:endParaRPr lang="fr-FR" sz="1800" dirty="0"/>
          </a:p>
          <a:p>
            <a:pPr algn="l"/>
            <a:endParaRPr lang="fr-FR" sz="1800" dirty="0" smtClean="0"/>
          </a:p>
          <a:p>
            <a:pPr algn="l"/>
            <a:r>
              <a:rPr lang="fr-FR" sz="1800" dirty="0" smtClean="0"/>
              <a:t>Le </a:t>
            </a:r>
            <a:r>
              <a:rPr lang="fr-FR" sz="1800" dirty="0"/>
              <a:t>jeu de données </a:t>
            </a:r>
            <a:r>
              <a:rPr lang="fr-FR" sz="1800" b="1" dirty="0"/>
              <a:t>Flickr30K</a:t>
            </a:r>
            <a:r>
              <a:rPr lang="fr-FR" sz="1800" dirty="0"/>
              <a:t> </a:t>
            </a:r>
            <a:r>
              <a:rPr lang="fr-FR" sz="1800" dirty="0" smtClean="0"/>
              <a:t>comprend </a:t>
            </a:r>
            <a:r>
              <a:rPr lang="fr-FR" sz="1800" dirty="0"/>
              <a:t>plus de 30 000 images, chacune accompagnée de cinq légendes issues du </a:t>
            </a:r>
            <a:r>
              <a:rPr lang="fr-FR" sz="1800" dirty="0" err="1"/>
              <a:t>crowdsourcing</a:t>
            </a:r>
            <a:r>
              <a:rPr lang="fr-FR" sz="1800" dirty="0"/>
              <a:t>. Il est largement utilisé pour entraîner et évaluer des modèles de réseaux neuronaux générant automatiquement des descriptions </a:t>
            </a:r>
            <a:r>
              <a:rPr lang="fr-FR" sz="1800" dirty="0" smtClean="0"/>
              <a:t>d’images </a:t>
            </a:r>
            <a:r>
              <a:rPr lang="fr-FR" sz="1800" b="1" dirty="0" smtClean="0"/>
              <a:t>[24]-[25] </a:t>
            </a:r>
            <a:r>
              <a:rPr lang="fr-FR" sz="1800" dirty="0" smtClean="0"/>
              <a:t>. </a:t>
            </a:r>
            <a:r>
              <a:rPr lang="fr-FR" sz="1800" dirty="0"/>
              <a:t>Ce corpus repose sur une hypothèse implicite : les légendes sont exclusivement fondées sur le contenu visuel, sans recours à des informations externes.</a:t>
            </a:r>
            <a:endParaRPr lang="fr-FR" sz="1800" b="1" dirty="0">
              <a:solidFill>
                <a:srgbClr val="FF0000"/>
              </a:solidFill>
            </a:endParaRPr>
          </a:p>
        </p:txBody>
      </p:sp>
      <p:sp>
        <p:nvSpPr>
          <p:cNvPr id="5" name="Rectangle 4"/>
          <p:cNvSpPr/>
          <p:nvPr/>
        </p:nvSpPr>
        <p:spPr>
          <a:xfrm>
            <a:off x="0" y="0"/>
            <a:ext cx="12077074" cy="4524315"/>
          </a:xfrm>
          <a:prstGeom prst="rect">
            <a:avLst/>
          </a:prstGeom>
        </p:spPr>
        <p:txBody>
          <a:bodyPr wrap="square">
            <a:spAutoFit/>
          </a:bodyPr>
          <a:lstStyle/>
          <a:p>
            <a:r>
              <a:rPr lang="fr-FR" b="1" dirty="0" smtClean="0"/>
              <a:t>- </a:t>
            </a:r>
          </a:p>
          <a:p>
            <a:r>
              <a:rPr lang="fr-FR" b="1" dirty="0" smtClean="0"/>
              <a:t>a) </a:t>
            </a:r>
            <a:r>
              <a:rPr lang="fr-FR" b="1" dirty="0"/>
              <a:t>Description du système </a:t>
            </a:r>
            <a:r>
              <a:rPr lang="fr-FR" b="1" dirty="0" smtClean="0"/>
              <a:t>Image-captioning-using-ViT-and-GPT-2</a:t>
            </a:r>
          </a:p>
          <a:p>
            <a:endParaRPr lang="fr-FR" b="1" dirty="0" smtClean="0"/>
          </a:p>
          <a:p>
            <a:endParaRPr lang="fr-FR" dirty="0">
              <a:solidFill>
                <a:srgbClr val="00B050"/>
              </a:solidFill>
            </a:endParaRPr>
          </a:p>
          <a:p>
            <a:endParaRPr lang="fr-FR" dirty="0" smtClean="0">
              <a:solidFill>
                <a:srgbClr val="00B050"/>
              </a:solidFill>
            </a:endParaRPr>
          </a:p>
          <a:p>
            <a:endParaRPr lang="fr-FR" dirty="0">
              <a:solidFill>
                <a:srgbClr val="00B050"/>
              </a:solidFill>
            </a:endParaRPr>
          </a:p>
          <a:p>
            <a:endParaRPr lang="fr-FR" dirty="0" smtClean="0">
              <a:solidFill>
                <a:srgbClr val="00B050"/>
              </a:solidFill>
            </a:endParaRPr>
          </a:p>
          <a:p>
            <a:endParaRPr lang="fr-FR" dirty="0">
              <a:solidFill>
                <a:srgbClr val="00B050"/>
              </a:solidFill>
            </a:endParaRPr>
          </a:p>
          <a:p>
            <a:endParaRPr lang="fr-FR" dirty="0" smtClean="0">
              <a:solidFill>
                <a:srgbClr val="00B050"/>
              </a:solidFill>
            </a:endParaRPr>
          </a:p>
          <a:p>
            <a:endParaRPr lang="fr-FR" dirty="0">
              <a:solidFill>
                <a:srgbClr val="00B050"/>
              </a:solidFill>
            </a:endParaRPr>
          </a:p>
          <a:p>
            <a:endParaRPr lang="fr-FR" dirty="0" smtClean="0">
              <a:solidFill>
                <a:srgbClr val="00B050"/>
              </a:solidFill>
            </a:endParaRPr>
          </a:p>
          <a:p>
            <a:endParaRPr lang="fr-FR" b="1" dirty="0" smtClean="0"/>
          </a:p>
          <a:p>
            <a:r>
              <a:rPr lang="fr-FR" b="1" dirty="0" smtClean="0"/>
              <a:t>b</a:t>
            </a:r>
            <a:r>
              <a:rPr lang="fr-FR" b="1" dirty="0"/>
              <a:t>) Jeu de données utilisé – </a:t>
            </a:r>
            <a:r>
              <a:rPr lang="fr-FR" b="1" dirty="0" smtClean="0"/>
              <a:t>Flickr30k</a:t>
            </a:r>
          </a:p>
          <a:p>
            <a:endParaRPr lang="fr-FR" b="1" dirty="0"/>
          </a:p>
          <a:p>
            <a:endParaRPr lang="fr-FR" b="1" dirty="0"/>
          </a:p>
          <a:p>
            <a:endParaRPr lang="fr-FR" dirty="0">
              <a:solidFill>
                <a:srgbClr val="00B050"/>
              </a:solidFill>
            </a:endParaRPr>
          </a:p>
        </p:txBody>
      </p:sp>
      <p:pic>
        <p:nvPicPr>
          <p:cNvPr id="8" name="Image 7"/>
          <p:cNvPicPr>
            <a:picLocks noChangeAspect="1"/>
          </p:cNvPicPr>
          <p:nvPr/>
        </p:nvPicPr>
        <p:blipFill>
          <a:blip r:embed="rId2"/>
          <a:stretch>
            <a:fillRect/>
          </a:stretch>
        </p:blipFill>
        <p:spPr>
          <a:xfrm>
            <a:off x="1324587" y="5464160"/>
            <a:ext cx="8239125" cy="838200"/>
          </a:xfrm>
          <a:prstGeom prst="rect">
            <a:avLst/>
          </a:prstGeom>
        </p:spPr>
      </p:pic>
    </p:spTree>
    <p:extLst>
      <p:ext uri="{BB962C8B-B14F-4D97-AF65-F5344CB8AC3E}">
        <p14:creationId xmlns:p14="http://schemas.microsoft.com/office/powerpoint/2010/main" val="22524127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a:xfrm>
            <a:off x="0" y="0"/>
            <a:ext cx="12192000" cy="6858000"/>
          </a:xfrm>
        </p:spPr>
        <p:txBody>
          <a:bodyPr>
            <a:normAutofit/>
          </a:bodyPr>
          <a:lstStyle/>
          <a:p>
            <a:pPr algn="l"/>
            <a:r>
              <a:rPr lang="fr-FR" sz="1800" b="1" dirty="0" smtClean="0"/>
              <a:t>     </a:t>
            </a:r>
            <a:r>
              <a:rPr lang="fr-FR" sz="1800" b="1" dirty="0"/>
              <a:t>Prétraitement des données</a:t>
            </a:r>
          </a:p>
          <a:p>
            <a:pPr algn="l"/>
            <a:r>
              <a:rPr lang="fr-FR" sz="1800" b="1" dirty="0" smtClean="0"/>
              <a:t>Le tableau 1</a:t>
            </a:r>
            <a:r>
              <a:rPr lang="fr-FR" sz="1800" dirty="0" smtClean="0"/>
              <a:t> des paramètres d'entraînement présente la configuration adoptée pour former un modèle de génération de légendes d’images combinant un encodeur Vision Transformer (</a:t>
            </a:r>
            <a:r>
              <a:rPr lang="fr-FR" sz="1800" dirty="0" err="1" smtClean="0"/>
              <a:t>ViT</a:t>
            </a:r>
            <a:r>
              <a:rPr lang="fr-FR" sz="1800" dirty="0" smtClean="0"/>
              <a:t>) et un décodeur GPT-2_Medium. Les images sont normalisées sur l’intervalle [0,1] et redimensionnées à 224×224 pixels. Les descriptions textuelles sont </a:t>
            </a:r>
            <a:r>
              <a:rPr lang="fr-FR" sz="1800" dirty="0" err="1" smtClean="0"/>
              <a:t>tokenisées</a:t>
            </a:r>
            <a:r>
              <a:rPr lang="fr-FR" sz="1800" dirty="0" smtClean="0"/>
              <a:t> avec un remplissage automatique (</a:t>
            </a:r>
            <a:r>
              <a:rPr lang="fr-FR" sz="1800" dirty="0" err="1" smtClean="0"/>
              <a:t>padding</a:t>
            </a:r>
            <a:r>
              <a:rPr lang="fr-FR" sz="1800" dirty="0" smtClean="0"/>
              <a:t>). L’entraînement est réalisé sur un jeu de données scindé en 80 % pour l’apprentissage et 20 % pour la validation, avec une taille de lot fixée à 16, un taux d’apprentissage de 5e-5, et une seule époque, utilisée ici à des fins de test rapide. Les </a:t>
            </a:r>
            <a:r>
              <a:rPr lang="fr-FR" sz="1800" dirty="0" err="1" smtClean="0"/>
              <a:t>tokens</a:t>
            </a:r>
            <a:r>
              <a:rPr lang="fr-FR" sz="1800" dirty="0" smtClean="0"/>
              <a:t> de remplissage sont masqués à l’aide d’une valeur spéciale (−100) pour ne pas interférer avec la fonction de perte. Les performances du modèle sont évaluées à l’aide de la métrique ROUGE-2, qui mesure la similarité des </a:t>
            </a:r>
            <a:r>
              <a:rPr lang="fr-FR" sz="1800" dirty="0" err="1" smtClean="0"/>
              <a:t>bigrammes</a:t>
            </a:r>
            <a:r>
              <a:rPr lang="fr-FR" sz="1800" dirty="0" smtClean="0"/>
              <a:t> entre les légendes générées et les références.</a:t>
            </a:r>
            <a:endParaRPr lang="fr-FR" sz="1800" b="1" dirty="0"/>
          </a:p>
        </p:txBody>
      </p:sp>
      <p:sp>
        <p:nvSpPr>
          <p:cNvPr id="5" name="Rectangle 4"/>
          <p:cNvSpPr/>
          <p:nvPr/>
        </p:nvSpPr>
        <p:spPr>
          <a:xfrm>
            <a:off x="0" y="0"/>
            <a:ext cx="12077074" cy="3139321"/>
          </a:xfrm>
          <a:prstGeom prst="rect">
            <a:avLst/>
          </a:prstGeom>
        </p:spPr>
        <p:txBody>
          <a:bodyPr wrap="square">
            <a:spAutoFit/>
          </a:bodyPr>
          <a:lstStyle/>
          <a:p>
            <a:r>
              <a:rPr lang="fr-FR" b="1" dirty="0" smtClean="0"/>
              <a:t>c- </a:t>
            </a:r>
          </a:p>
          <a:p>
            <a:endParaRPr lang="fr-FR" dirty="0">
              <a:solidFill>
                <a:srgbClr val="00B050"/>
              </a:solidFill>
            </a:endParaRPr>
          </a:p>
          <a:p>
            <a:endParaRPr lang="fr-FR" dirty="0" smtClean="0">
              <a:solidFill>
                <a:srgbClr val="00B050"/>
              </a:solidFill>
            </a:endParaRPr>
          </a:p>
          <a:p>
            <a:endParaRPr lang="fr-FR" dirty="0">
              <a:solidFill>
                <a:srgbClr val="00B050"/>
              </a:solidFill>
            </a:endParaRPr>
          </a:p>
          <a:p>
            <a:endParaRPr lang="fr-FR" dirty="0" smtClean="0">
              <a:solidFill>
                <a:srgbClr val="00B050"/>
              </a:solidFill>
            </a:endParaRPr>
          </a:p>
          <a:p>
            <a:endParaRPr lang="fr-FR" dirty="0">
              <a:solidFill>
                <a:srgbClr val="00B050"/>
              </a:solidFill>
            </a:endParaRPr>
          </a:p>
          <a:p>
            <a:endParaRPr lang="fr-FR" dirty="0" smtClean="0">
              <a:solidFill>
                <a:srgbClr val="00B050"/>
              </a:solidFill>
            </a:endParaRPr>
          </a:p>
          <a:p>
            <a:endParaRPr lang="fr-FR" dirty="0">
              <a:solidFill>
                <a:srgbClr val="00B050"/>
              </a:solidFill>
            </a:endParaRPr>
          </a:p>
          <a:p>
            <a:endParaRPr lang="fr-FR" dirty="0" smtClean="0">
              <a:solidFill>
                <a:srgbClr val="00B050"/>
              </a:solidFill>
            </a:endParaRPr>
          </a:p>
          <a:p>
            <a:endParaRPr lang="fr-FR" dirty="0">
              <a:solidFill>
                <a:srgbClr val="00B050"/>
              </a:solidFill>
            </a:endParaRPr>
          </a:p>
          <a:p>
            <a:endParaRPr lang="fr-FR" dirty="0">
              <a:solidFill>
                <a:srgbClr val="00B050"/>
              </a:solidFill>
            </a:endParaRPr>
          </a:p>
        </p:txBody>
      </p:sp>
      <p:pic>
        <p:nvPicPr>
          <p:cNvPr id="2" name="Imag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35795" y="2426916"/>
            <a:ext cx="7695446" cy="4431084"/>
          </a:xfrm>
          <a:prstGeom prst="rect">
            <a:avLst/>
          </a:prstGeom>
        </p:spPr>
      </p:pic>
    </p:spTree>
    <p:extLst>
      <p:ext uri="{BB962C8B-B14F-4D97-AF65-F5344CB8AC3E}">
        <p14:creationId xmlns:p14="http://schemas.microsoft.com/office/powerpoint/2010/main" val="4470195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a:xfrm>
            <a:off x="0" y="0"/>
            <a:ext cx="12192000" cy="6858000"/>
          </a:xfrm>
        </p:spPr>
        <p:txBody>
          <a:bodyPr>
            <a:normAutofit/>
          </a:bodyPr>
          <a:lstStyle/>
          <a:p>
            <a:pPr algn="l"/>
            <a:r>
              <a:rPr lang="fr-FR" sz="1800" b="1" dirty="0" smtClean="0"/>
              <a:t>     </a:t>
            </a:r>
            <a:r>
              <a:rPr lang="fr-FR" sz="1800" b="1" dirty="0"/>
              <a:t>Configuration de la machine utilisée pour </a:t>
            </a:r>
            <a:r>
              <a:rPr lang="fr-FR" sz="1800" b="1" dirty="0" smtClean="0"/>
              <a:t>l'entraînement</a:t>
            </a:r>
          </a:p>
          <a:p>
            <a:pPr algn="l"/>
            <a:r>
              <a:rPr lang="fr-FR" sz="1800" dirty="0"/>
              <a:t> L’entraînement a été réalisé sur un ordinateur portable équipé d’un processeur Intel </a:t>
            </a:r>
            <a:r>
              <a:rPr lang="fr-FR" sz="1800" dirty="0" err="1"/>
              <a:t>Core</a:t>
            </a:r>
            <a:r>
              <a:rPr lang="fr-FR" sz="1800" dirty="0"/>
              <a:t> i7-8650U à 2,11 GHz, de 16 Go de RAM et d’un SSD </a:t>
            </a:r>
            <a:r>
              <a:rPr lang="fr-FR" sz="1800" dirty="0" err="1"/>
              <a:t>NVMe</a:t>
            </a:r>
            <a:r>
              <a:rPr lang="fr-FR" sz="1800" dirty="0"/>
              <a:t> de 256 Go. Le système dispose d’une carte graphique NVIDIA GeForce MX150 (2 Go de VRAM) associée à un processeur graphique intégré Intel UHD 620, fonctionnant sous Windows 64 bits. Cette configuration est adaptée à l’entraînement de modèles de taille moyenne, bien que ses capacités limitées en calcul parallèle restreignent son efficacité pour des réseaux neuronaux </a:t>
            </a:r>
            <a:r>
              <a:rPr lang="fr-FR" sz="1800"/>
              <a:t>profonds</a:t>
            </a:r>
            <a:r>
              <a:rPr lang="fr-FR" sz="1800" smtClean="0"/>
              <a:t>.</a:t>
            </a:r>
          </a:p>
          <a:p>
            <a:pPr algn="l"/>
            <a:r>
              <a:rPr lang="fr-FR" sz="1800" b="1" smtClean="0"/>
              <a:t>2.2 </a:t>
            </a:r>
            <a:r>
              <a:rPr lang="fr-FR" sz="1800" b="1" dirty="0" smtClean="0"/>
              <a:t>Méthode 2 : VisionGPT2</a:t>
            </a:r>
          </a:p>
          <a:p>
            <a:pPr algn="l"/>
            <a:r>
              <a:rPr lang="fr-FR" sz="1800" b="1" dirty="0" smtClean="0"/>
              <a:t>a</a:t>
            </a:r>
            <a:r>
              <a:rPr lang="fr-FR" sz="1800" b="1" dirty="0"/>
              <a:t>) Description du système VisionGPT2</a:t>
            </a:r>
            <a:endParaRPr lang="fr-FR" sz="1800" b="1" dirty="0" smtClean="0"/>
          </a:p>
          <a:p>
            <a:pPr algn="l"/>
            <a:r>
              <a:rPr lang="fr-FR" sz="1800" dirty="0"/>
              <a:t>Le système </a:t>
            </a:r>
            <a:r>
              <a:rPr lang="fr-FR" sz="1800" dirty="0" smtClean="0"/>
              <a:t>VisionGPT2 </a:t>
            </a:r>
            <a:r>
              <a:rPr lang="fr-FR" sz="1800" b="1" dirty="0" smtClean="0"/>
              <a:t>[26] </a:t>
            </a:r>
            <a:r>
              <a:rPr lang="fr-FR" sz="1800" dirty="0"/>
              <a:t>repose sur une architecture hybride combinant un encodeur Vision Transformer (</a:t>
            </a:r>
            <a:r>
              <a:rPr lang="fr-FR" sz="1800" dirty="0" err="1"/>
              <a:t>ViT</a:t>
            </a:r>
            <a:r>
              <a:rPr lang="fr-FR" sz="1800" dirty="0"/>
              <a:t>) et un décodeur </a:t>
            </a:r>
            <a:r>
              <a:rPr lang="fr-FR" sz="1800" dirty="0" smtClean="0"/>
              <a:t>GPT-2. </a:t>
            </a:r>
            <a:r>
              <a:rPr lang="fr-FR" sz="1800" dirty="0"/>
              <a:t>Le </a:t>
            </a:r>
            <a:r>
              <a:rPr lang="fr-FR" sz="1800" dirty="0" err="1"/>
              <a:t>ViT</a:t>
            </a:r>
            <a:r>
              <a:rPr lang="fr-FR" sz="1800" dirty="0"/>
              <a:t>, dans sa version vit_base_patch16_224 et chargé via la bibliothèque </a:t>
            </a:r>
            <a:r>
              <a:rPr lang="fr-FR" sz="1800" dirty="0" err="1"/>
              <a:t>timm</a:t>
            </a:r>
            <a:r>
              <a:rPr lang="fr-FR" sz="1800" dirty="0"/>
              <a:t>, extrait les représentations visuelles des images. Ces </a:t>
            </a:r>
            <a:r>
              <a:rPr lang="fr-FR" sz="1800" dirty="0" err="1"/>
              <a:t>embeddings</a:t>
            </a:r>
            <a:r>
              <a:rPr lang="fr-FR" sz="1800" dirty="0"/>
              <a:t> sont ensuite transmis à </a:t>
            </a:r>
            <a:r>
              <a:rPr lang="fr-FR" sz="1800" dirty="0" smtClean="0"/>
              <a:t>GPT-2 </a:t>
            </a:r>
            <a:r>
              <a:rPr lang="fr-FR" sz="1800" b="1" dirty="0" smtClean="0"/>
              <a:t>[27] </a:t>
            </a:r>
            <a:r>
              <a:rPr lang="fr-FR" sz="1800" dirty="0" smtClean="0"/>
              <a:t>, </a:t>
            </a:r>
            <a:r>
              <a:rPr lang="fr-FR" sz="1800" dirty="0"/>
              <a:t>intégré via </a:t>
            </a:r>
            <a:r>
              <a:rPr lang="fr-FR" sz="1800" dirty="0" err="1"/>
              <a:t>transformers</a:t>
            </a:r>
            <a:r>
              <a:rPr lang="fr-FR" sz="1800" dirty="0"/>
              <a:t>, pour générer des légendes. Entièrement développé en </a:t>
            </a:r>
            <a:r>
              <a:rPr lang="fr-FR" sz="1800" dirty="0" err="1"/>
              <a:t>PyTorch</a:t>
            </a:r>
            <a:r>
              <a:rPr lang="fr-FR" sz="1800" dirty="0"/>
              <a:t>, le pipeline exploite les jeux de données COCO2017 </a:t>
            </a:r>
            <a:r>
              <a:rPr lang="fr-FR" sz="1800" dirty="0" smtClean="0"/>
              <a:t>, </a:t>
            </a:r>
            <a:r>
              <a:rPr lang="fr-FR" sz="1800" dirty="0"/>
              <a:t>reconnus pour leur diversité visuelle et linguistique, afin d’améliorer la qualité et l’accessibilité des descriptions générées. Le prétraitement des images est réalisé avec </a:t>
            </a:r>
            <a:r>
              <a:rPr lang="fr-FR" sz="1800" dirty="0" err="1"/>
              <a:t>albumentations</a:t>
            </a:r>
            <a:r>
              <a:rPr lang="fr-FR" sz="1800" dirty="0"/>
              <a:t>, tandis que la </a:t>
            </a:r>
            <a:r>
              <a:rPr lang="fr-FR" sz="1800" dirty="0" err="1"/>
              <a:t>tokenisation</a:t>
            </a:r>
            <a:r>
              <a:rPr lang="fr-FR" sz="1800" dirty="0"/>
              <a:t> repose sur </a:t>
            </a:r>
            <a:r>
              <a:rPr lang="fr-FR" sz="1800" dirty="0" smtClean="0"/>
              <a:t>GPT-2</a:t>
            </a:r>
            <a:r>
              <a:rPr lang="fr-FR" sz="1800" b="1" dirty="0" smtClean="0"/>
              <a:t> [27]</a:t>
            </a:r>
            <a:r>
              <a:rPr lang="fr-FR" sz="1800" dirty="0" smtClean="0"/>
              <a:t>, </a:t>
            </a:r>
            <a:r>
              <a:rPr lang="fr-FR" sz="1800" dirty="0"/>
              <a:t>avec un usage particulier du </a:t>
            </a:r>
            <a:r>
              <a:rPr lang="fr-FR" sz="1800" dirty="0" err="1"/>
              <a:t>token</a:t>
            </a:r>
            <a:r>
              <a:rPr lang="fr-FR" sz="1800" dirty="0"/>
              <a:t> EOS également comme PAD. L'entraînement est optimisé à l’aide d’</a:t>
            </a:r>
            <a:r>
              <a:rPr lang="fr-FR" sz="1800" dirty="0" err="1"/>
              <a:t>AdamW</a:t>
            </a:r>
            <a:r>
              <a:rPr lang="fr-FR" sz="1800" dirty="0"/>
              <a:t>, d’un </a:t>
            </a:r>
            <a:r>
              <a:rPr lang="fr-FR" sz="1800" dirty="0" err="1"/>
              <a:t>scheduler</a:t>
            </a:r>
            <a:r>
              <a:rPr lang="fr-FR" sz="1800" dirty="0"/>
              <a:t> d’apprentissage, et du mixed </a:t>
            </a:r>
            <a:r>
              <a:rPr lang="fr-FR" sz="1800" dirty="0" err="1"/>
              <a:t>precision</a:t>
            </a:r>
            <a:r>
              <a:rPr lang="fr-FR" sz="1800" dirty="0"/>
              <a:t> pour une meilleure efficacité. Cette méthode vise à produire des légendes claires, informatives et accessibles, notamment pour les personnes malvoyantes. L’architecture du système est illustrée dans la Figure </a:t>
            </a:r>
            <a:r>
              <a:rPr lang="fr-FR" sz="1800" b="1" dirty="0"/>
              <a:t>5</a:t>
            </a:r>
            <a:r>
              <a:rPr lang="fr-FR" sz="1800" dirty="0"/>
              <a:t>.</a:t>
            </a:r>
            <a:endParaRPr lang="fr-FR" sz="1800" b="1" dirty="0"/>
          </a:p>
        </p:txBody>
      </p:sp>
      <p:sp>
        <p:nvSpPr>
          <p:cNvPr id="5" name="Rectangle 4"/>
          <p:cNvSpPr/>
          <p:nvPr/>
        </p:nvSpPr>
        <p:spPr>
          <a:xfrm>
            <a:off x="0" y="0"/>
            <a:ext cx="12077074" cy="3139321"/>
          </a:xfrm>
          <a:prstGeom prst="rect">
            <a:avLst/>
          </a:prstGeom>
        </p:spPr>
        <p:txBody>
          <a:bodyPr wrap="square">
            <a:spAutoFit/>
          </a:bodyPr>
          <a:lstStyle/>
          <a:p>
            <a:r>
              <a:rPr lang="fr-FR" b="1" dirty="0" smtClean="0"/>
              <a:t>d- </a:t>
            </a:r>
          </a:p>
          <a:p>
            <a:r>
              <a:rPr lang="fr-FR" dirty="0" smtClean="0">
                <a:solidFill>
                  <a:srgbClr val="00B050"/>
                </a:solidFill>
              </a:rPr>
              <a:t> </a:t>
            </a:r>
            <a:endParaRPr lang="fr-FR" dirty="0">
              <a:solidFill>
                <a:srgbClr val="00B050"/>
              </a:solidFill>
            </a:endParaRPr>
          </a:p>
          <a:p>
            <a:endParaRPr lang="fr-FR" dirty="0" smtClean="0">
              <a:solidFill>
                <a:srgbClr val="00B050"/>
              </a:solidFill>
            </a:endParaRPr>
          </a:p>
          <a:p>
            <a:endParaRPr lang="fr-FR" dirty="0">
              <a:solidFill>
                <a:srgbClr val="00B050"/>
              </a:solidFill>
            </a:endParaRPr>
          </a:p>
          <a:p>
            <a:endParaRPr lang="fr-FR" dirty="0" smtClean="0">
              <a:solidFill>
                <a:srgbClr val="00B050"/>
              </a:solidFill>
            </a:endParaRPr>
          </a:p>
          <a:p>
            <a:endParaRPr lang="fr-FR" dirty="0">
              <a:solidFill>
                <a:srgbClr val="00B050"/>
              </a:solidFill>
            </a:endParaRPr>
          </a:p>
          <a:p>
            <a:endParaRPr lang="fr-FR" dirty="0" smtClean="0">
              <a:solidFill>
                <a:srgbClr val="00B050"/>
              </a:solidFill>
            </a:endParaRPr>
          </a:p>
          <a:p>
            <a:endParaRPr lang="fr-FR" dirty="0">
              <a:solidFill>
                <a:srgbClr val="00B050"/>
              </a:solidFill>
            </a:endParaRPr>
          </a:p>
          <a:p>
            <a:endParaRPr lang="fr-FR" dirty="0" smtClean="0">
              <a:solidFill>
                <a:srgbClr val="00B050"/>
              </a:solidFill>
            </a:endParaRPr>
          </a:p>
          <a:p>
            <a:endParaRPr lang="fr-FR" dirty="0">
              <a:solidFill>
                <a:srgbClr val="00B050"/>
              </a:solidFill>
            </a:endParaRPr>
          </a:p>
          <a:p>
            <a:endParaRPr lang="fr-FR" dirty="0">
              <a:solidFill>
                <a:srgbClr val="00B050"/>
              </a:solidFill>
            </a:endParaRPr>
          </a:p>
        </p:txBody>
      </p:sp>
    </p:spTree>
    <p:extLst>
      <p:ext uri="{BB962C8B-B14F-4D97-AF65-F5344CB8AC3E}">
        <p14:creationId xmlns:p14="http://schemas.microsoft.com/office/powerpoint/2010/main" val="17814206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a:xfrm>
            <a:off x="0" y="0"/>
            <a:ext cx="12192000" cy="6858000"/>
          </a:xfrm>
        </p:spPr>
        <p:txBody>
          <a:bodyPr>
            <a:normAutofit/>
          </a:bodyPr>
          <a:lstStyle/>
          <a:p>
            <a:pPr algn="l"/>
            <a:endParaRPr lang="fr-FR" sz="1800" b="1" dirty="0"/>
          </a:p>
        </p:txBody>
      </p:sp>
      <p:sp>
        <p:nvSpPr>
          <p:cNvPr id="5" name="Rectangle 4"/>
          <p:cNvSpPr/>
          <p:nvPr/>
        </p:nvSpPr>
        <p:spPr>
          <a:xfrm>
            <a:off x="0" y="0"/>
            <a:ext cx="12077074" cy="3139321"/>
          </a:xfrm>
          <a:prstGeom prst="rect">
            <a:avLst/>
          </a:prstGeom>
        </p:spPr>
        <p:txBody>
          <a:bodyPr wrap="square">
            <a:spAutoFit/>
          </a:bodyPr>
          <a:lstStyle/>
          <a:p>
            <a:endParaRPr lang="fr-FR" b="1" dirty="0" smtClean="0"/>
          </a:p>
          <a:p>
            <a:endParaRPr lang="fr-FR" dirty="0">
              <a:solidFill>
                <a:srgbClr val="00B050"/>
              </a:solidFill>
            </a:endParaRPr>
          </a:p>
          <a:p>
            <a:endParaRPr lang="fr-FR" dirty="0" smtClean="0">
              <a:solidFill>
                <a:srgbClr val="00B050"/>
              </a:solidFill>
            </a:endParaRPr>
          </a:p>
          <a:p>
            <a:endParaRPr lang="fr-FR" dirty="0">
              <a:solidFill>
                <a:srgbClr val="00B050"/>
              </a:solidFill>
            </a:endParaRPr>
          </a:p>
          <a:p>
            <a:endParaRPr lang="fr-FR" dirty="0" smtClean="0">
              <a:solidFill>
                <a:srgbClr val="00B050"/>
              </a:solidFill>
            </a:endParaRPr>
          </a:p>
          <a:p>
            <a:endParaRPr lang="fr-FR" dirty="0">
              <a:solidFill>
                <a:srgbClr val="00B050"/>
              </a:solidFill>
            </a:endParaRPr>
          </a:p>
          <a:p>
            <a:endParaRPr lang="fr-FR" dirty="0" smtClean="0">
              <a:solidFill>
                <a:srgbClr val="00B050"/>
              </a:solidFill>
            </a:endParaRPr>
          </a:p>
          <a:p>
            <a:endParaRPr lang="fr-FR" dirty="0">
              <a:solidFill>
                <a:srgbClr val="00B050"/>
              </a:solidFill>
            </a:endParaRPr>
          </a:p>
          <a:p>
            <a:endParaRPr lang="fr-FR" dirty="0" smtClean="0">
              <a:solidFill>
                <a:srgbClr val="00B050"/>
              </a:solidFill>
            </a:endParaRPr>
          </a:p>
          <a:p>
            <a:endParaRPr lang="fr-FR" dirty="0">
              <a:solidFill>
                <a:srgbClr val="00B050"/>
              </a:solidFill>
            </a:endParaRPr>
          </a:p>
          <a:p>
            <a:endParaRPr lang="fr-FR" dirty="0">
              <a:solidFill>
                <a:srgbClr val="00B050"/>
              </a:solidFill>
            </a:endParaRPr>
          </a:p>
        </p:txBody>
      </p:sp>
      <p:pic>
        <p:nvPicPr>
          <p:cNvPr id="2" name="Imag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0" y="135834"/>
            <a:ext cx="4572000" cy="6006974"/>
          </a:xfrm>
          <a:prstGeom prst="rect">
            <a:avLst/>
          </a:prstGeom>
        </p:spPr>
      </p:pic>
    </p:spTree>
    <p:extLst>
      <p:ext uri="{BB962C8B-B14F-4D97-AF65-F5344CB8AC3E}">
        <p14:creationId xmlns:p14="http://schemas.microsoft.com/office/powerpoint/2010/main" val="6447274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a:xfrm>
            <a:off x="0" y="0"/>
            <a:ext cx="12192000" cy="6858000"/>
          </a:xfrm>
        </p:spPr>
        <p:txBody>
          <a:bodyPr>
            <a:normAutofit/>
          </a:bodyPr>
          <a:lstStyle/>
          <a:p>
            <a:pPr algn="l"/>
            <a:endParaRPr lang="fr-FR" sz="1800" dirty="0"/>
          </a:p>
          <a:p>
            <a:pPr algn="l"/>
            <a:endParaRPr lang="fr-FR" sz="1800" dirty="0" smtClean="0"/>
          </a:p>
          <a:p>
            <a:pPr algn="l"/>
            <a:r>
              <a:rPr lang="fr-FR" sz="1800" dirty="0"/>
              <a:t>Dans notre approche, nous avons opté pour un jeu de données de grande envergure, mieux adapté aux exigences de notre modèle et offrant davantage de fonctionnalités. </a:t>
            </a:r>
            <a:r>
              <a:rPr lang="fr-FR" sz="1800" b="1" dirty="0"/>
              <a:t>MS COCO 2017</a:t>
            </a:r>
            <a:r>
              <a:rPr lang="fr-FR" sz="1800" dirty="0"/>
              <a:t> (</a:t>
            </a:r>
            <a:r>
              <a:rPr lang="fr-FR" sz="1800" i="1" dirty="0"/>
              <a:t>Microsoft Common </a:t>
            </a:r>
            <a:r>
              <a:rPr lang="fr-FR" sz="1800" i="1" dirty="0" err="1"/>
              <a:t>Objects</a:t>
            </a:r>
            <a:r>
              <a:rPr lang="fr-FR" sz="1800" i="1" dirty="0"/>
              <a:t> in </a:t>
            </a:r>
            <a:r>
              <a:rPr lang="fr-FR" sz="1800" i="1" dirty="0" err="1"/>
              <a:t>Context</a:t>
            </a:r>
            <a:r>
              <a:rPr lang="fr-FR" sz="1800" dirty="0"/>
              <a:t>) </a:t>
            </a:r>
            <a:r>
              <a:rPr lang="fr-FR" sz="1800" b="1" dirty="0" smtClean="0"/>
              <a:t>[28]-[29] </a:t>
            </a:r>
            <a:r>
              <a:rPr lang="fr-FR" sz="1800" dirty="0" smtClean="0"/>
              <a:t>est </a:t>
            </a:r>
            <a:r>
              <a:rPr lang="fr-FR" sz="1800" dirty="0"/>
              <a:t>largement utilisé en vision par ordinateur, notamment pour des tâches telles que la détection d’objets, la segmentation d’images et la génération de légendes. Il contient environ </a:t>
            </a:r>
            <a:r>
              <a:rPr lang="fr-FR" sz="1800" b="1" dirty="0"/>
              <a:t>118 000 images d'entraînement</a:t>
            </a:r>
            <a:r>
              <a:rPr lang="fr-FR" sz="1800" dirty="0"/>
              <a:t> et </a:t>
            </a:r>
            <a:r>
              <a:rPr lang="fr-FR" sz="1800" b="1" dirty="0"/>
              <a:t>5 000 images de validation</a:t>
            </a:r>
            <a:r>
              <a:rPr lang="fr-FR" sz="1800" dirty="0"/>
              <a:t>, chacune accompagnée de </a:t>
            </a:r>
            <a:r>
              <a:rPr lang="fr-FR" sz="1800" b="1" dirty="0"/>
              <a:t>cinq légendes manuelles</a:t>
            </a:r>
            <a:r>
              <a:rPr lang="fr-FR" sz="1800" dirty="0"/>
              <a:t>, ce qui en fait une ressource précieuse pour former des systèmes capables de générer des descriptions riches et contextualisées</a:t>
            </a:r>
            <a:r>
              <a:rPr lang="fr-FR" sz="1800" dirty="0" smtClean="0"/>
              <a:t>.</a:t>
            </a:r>
          </a:p>
          <a:p>
            <a:pPr algn="l"/>
            <a:r>
              <a:rPr lang="fr-FR" sz="1800" b="1" dirty="0" smtClean="0"/>
              <a:t>c)  </a:t>
            </a:r>
            <a:r>
              <a:rPr lang="fr-FR" sz="1800" b="1" dirty="0"/>
              <a:t>Prétraitement des données</a:t>
            </a:r>
          </a:p>
          <a:p>
            <a:pPr algn="l"/>
            <a:r>
              <a:rPr lang="fr-FR" sz="1800" b="1" dirty="0"/>
              <a:t>Le Tableau 2 </a:t>
            </a:r>
            <a:r>
              <a:rPr lang="fr-FR" sz="1800" dirty="0"/>
              <a:t>présente la configuration utilisée pour entraîner un modèle de génération de légendes d’images combinant un encodeur Vision Transformer (</a:t>
            </a:r>
            <a:r>
              <a:rPr lang="fr-FR" sz="1800" dirty="0" err="1"/>
              <a:t>ViT</a:t>
            </a:r>
            <a:r>
              <a:rPr lang="fr-FR" sz="1800" dirty="0"/>
              <a:t>) et un décodeur </a:t>
            </a:r>
            <a:r>
              <a:rPr lang="fr-FR" sz="1800" dirty="0" smtClean="0"/>
              <a:t>GPT-2, </a:t>
            </a:r>
            <a:r>
              <a:rPr lang="fr-FR" sz="1800" dirty="0"/>
              <a:t>implémentés manuellement. Les images sont redimensionnées à 224×224 pixels et normalisées (moyenne 0.5, écart-type 0.5 par canal) afin de ramener les valeurs dans l’intervalle [-1, 1]. Les descriptions textuelles sont </a:t>
            </a:r>
            <a:r>
              <a:rPr lang="fr-FR" sz="1800" dirty="0" err="1"/>
              <a:t>tokenisées</a:t>
            </a:r>
            <a:r>
              <a:rPr lang="fr-FR" sz="1800" dirty="0"/>
              <a:t> à l’aide de GPT2Tokenizer, avec un remplissage automatique utilisant le </a:t>
            </a:r>
            <a:r>
              <a:rPr lang="fr-FR" sz="1800" dirty="0" err="1"/>
              <a:t>token</a:t>
            </a:r>
            <a:r>
              <a:rPr lang="fr-FR" sz="1800" dirty="0"/>
              <a:t> EOS. L’ensemble de données est divisé en 90 % pour l’entraînement et 10 % pour la validation, avec une taille de lot de 4, un taux d’apprentissage de 3e-4 et une durée de 20 époques. Pour stabiliser l’apprentissage, plusieurs techniques de régularisation sont appliquées : dropout (0.1), </a:t>
            </a:r>
            <a:r>
              <a:rPr lang="fr-FR" sz="1800" dirty="0" err="1"/>
              <a:t>weight</a:t>
            </a:r>
            <a:r>
              <a:rPr lang="fr-FR" sz="1800" dirty="0"/>
              <a:t> </a:t>
            </a:r>
            <a:r>
              <a:rPr lang="fr-FR" sz="1800" dirty="0" err="1"/>
              <a:t>decay</a:t>
            </a:r>
            <a:r>
              <a:rPr lang="fr-FR" sz="1800" dirty="0"/>
              <a:t> (0.01) et accumulation de gradients sur deux pas. Les </a:t>
            </a:r>
            <a:r>
              <a:rPr lang="fr-FR" sz="1800" dirty="0" err="1"/>
              <a:t>tokens</a:t>
            </a:r>
            <a:r>
              <a:rPr lang="fr-FR" sz="1800" dirty="0"/>
              <a:t> de remplissage sont masqués avec la valeur −100 afin qu’ils n’influencent pas la fonction de perte.</a:t>
            </a:r>
            <a:endParaRPr lang="fr-FR" sz="1800" dirty="0">
              <a:solidFill>
                <a:srgbClr val="FF0000"/>
              </a:solidFill>
            </a:endParaRPr>
          </a:p>
        </p:txBody>
      </p:sp>
      <p:sp>
        <p:nvSpPr>
          <p:cNvPr id="5" name="Rectangle 4"/>
          <p:cNvSpPr/>
          <p:nvPr/>
        </p:nvSpPr>
        <p:spPr>
          <a:xfrm>
            <a:off x="0" y="0"/>
            <a:ext cx="12077074" cy="1477328"/>
          </a:xfrm>
          <a:prstGeom prst="rect">
            <a:avLst/>
          </a:prstGeom>
        </p:spPr>
        <p:txBody>
          <a:bodyPr wrap="square">
            <a:spAutoFit/>
          </a:bodyPr>
          <a:lstStyle/>
          <a:p>
            <a:endParaRPr lang="fr-FR" dirty="0">
              <a:solidFill>
                <a:srgbClr val="00B050"/>
              </a:solidFill>
            </a:endParaRPr>
          </a:p>
          <a:p>
            <a:r>
              <a:rPr lang="fr-FR" b="1" dirty="0" smtClean="0"/>
              <a:t>b</a:t>
            </a:r>
            <a:r>
              <a:rPr lang="fr-FR" b="1" dirty="0"/>
              <a:t>) Jeu de données utilisé – </a:t>
            </a:r>
            <a:r>
              <a:rPr lang="fr-FR" b="1" dirty="0" smtClean="0"/>
              <a:t>MSCOCO 2017</a:t>
            </a:r>
          </a:p>
          <a:p>
            <a:endParaRPr lang="fr-FR" b="1" dirty="0"/>
          </a:p>
          <a:p>
            <a:endParaRPr lang="fr-FR" b="1" dirty="0"/>
          </a:p>
          <a:p>
            <a:endParaRPr lang="fr-FR" dirty="0">
              <a:solidFill>
                <a:srgbClr val="00B050"/>
              </a:solidFill>
            </a:endParaRPr>
          </a:p>
        </p:txBody>
      </p:sp>
    </p:spTree>
    <p:extLst>
      <p:ext uri="{BB962C8B-B14F-4D97-AF65-F5344CB8AC3E}">
        <p14:creationId xmlns:p14="http://schemas.microsoft.com/office/powerpoint/2010/main" val="9964139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a:xfrm>
            <a:off x="0" y="0"/>
            <a:ext cx="12192000" cy="6858000"/>
          </a:xfrm>
        </p:spPr>
        <p:txBody>
          <a:bodyPr>
            <a:normAutofit/>
          </a:bodyPr>
          <a:lstStyle/>
          <a:p>
            <a:pPr algn="l"/>
            <a:endParaRPr lang="fr-FR" sz="1800" dirty="0"/>
          </a:p>
        </p:txBody>
      </p:sp>
      <p:sp>
        <p:nvSpPr>
          <p:cNvPr id="5" name="Rectangle 4"/>
          <p:cNvSpPr/>
          <p:nvPr/>
        </p:nvSpPr>
        <p:spPr>
          <a:xfrm>
            <a:off x="0" y="0"/>
            <a:ext cx="12077074" cy="923330"/>
          </a:xfrm>
          <a:prstGeom prst="rect">
            <a:avLst/>
          </a:prstGeom>
        </p:spPr>
        <p:txBody>
          <a:bodyPr wrap="square">
            <a:spAutoFit/>
          </a:bodyPr>
          <a:lstStyle/>
          <a:p>
            <a:endParaRPr lang="fr-FR" b="1" dirty="0"/>
          </a:p>
          <a:p>
            <a:endParaRPr lang="fr-FR" b="1" dirty="0"/>
          </a:p>
          <a:p>
            <a:endParaRPr lang="fr-FR" dirty="0">
              <a:solidFill>
                <a:srgbClr val="00B050"/>
              </a:solidFill>
            </a:endParaRPr>
          </a:p>
        </p:txBody>
      </p:sp>
      <p:pic>
        <p:nvPicPr>
          <p:cNvPr id="2" name="Imag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72831" y="189121"/>
            <a:ext cx="8043969" cy="6152831"/>
          </a:xfrm>
          <a:prstGeom prst="rect">
            <a:avLst/>
          </a:prstGeom>
        </p:spPr>
      </p:pic>
    </p:spTree>
    <p:extLst>
      <p:ext uri="{BB962C8B-B14F-4D97-AF65-F5344CB8AC3E}">
        <p14:creationId xmlns:p14="http://schemas.microsoft.com/office/powerpoint/2010/main" val="4594589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a:xfrm>
            <a:off x="0" y="0"/>
            <a:ext cx="12192000" cy="6858000"/>
          </a:xfrm>
        </p:spPr>
        <p:txBody>
          <a:bodyPr>
            <a:normAutofit/>
          </a:bodyPr>
          <a:lstStyle/>
          <a:p>
            <a:pPr algn="l"/>
            <a:endParaRPr lang="fr-FR" sz="1800" dirty="0"/>
          </a:p>
        </p:txBody>
      </p:sp>
      <p:sp>
        <p:nvSpPr>
          <p:cNvPr id="5" name="Rectangle 4"/>
          <p:cNvSpPr/>
          <p:nvPr/>
        </p:nvSpPr>
        <p:spPr>
          <a:xfrm>
            <a:off x="0" y="0"/>
            <a:ext cx="12077074" cy="2308324"/>
          </a:xfrm>
          <a:prstGeom prst="rect">
            <a:avLst/>
          </a:prstGeom>
        </p:spPr>
        <p:txBody>
          <a:bodyPr wrap="square">
            <a:spAutoFit/>
          </a:bodyPr>
          <a:lstStyle/>
          <a:p>
            <a:endParaRPr lang="fr-FR" dirty="0">
              <a:solidFill>
                <a:srgbClr val="00B050"/>
              </a:solidFill>
            </a:endParaRPr>
          </a:p>
          <a:p>
            <a:r>
              <a:rPr lang="fr-FR" b="1" dirty="0" smtClean="0"/>
              <a:t>d) Configuration </a:t>
            </a:r>
            <a:r>
              <a:rPr lang="fr-FR" b="1" dirty="0"/>
              <a:t>de la machine utilisée pour l'entraînement</a:t>
            </a:r>
          </a:p>
          <a:p>
            <a:r>
              <a:rPr lang="fr-FR" dirty="0" smtClean="0"/>
              <a:t>L’entraînement </a:t>
            </a:r>
            <a:r>
              <a:rPr lang="fr-FR" dirty="0"/>
              <a:t>a été réalisé sur un Dell </a:t>
            </a:r>
            <a:r>
              <a:rPr lang="fr-FR" dirty="0" err="1"/>
              <a:t>OptiPlex</a:t>
            </a:r>
            <a:r>
              <a:rPr lang="fr-FR" dirty="0"/>
              <a:t> 3090 équipé d’un processeur Intel </a:t>
            </a:r>
            <a:r>
              <a:rPr lang="fr-FR" dirty="0" err="1"/>
              <a:t>Core</a:t>
            </a:r>
            <a:r>
              <a:rPr lang="fr-FR" dirty="0"/>
              <a:t> i5-10505 (3.20 GHz) et de 8 Go de RAM, fonctionnant sous Windows 10 Professionnel, version 22H2 (</a:t>
            </a:r>
            <a:r>
              <a:rPr lang="fr-FR" dirty="0" err="1"/>
              <a:t>build</a:t>
            </a:r>
            <a:r>
              <a:rPr lang="fr-FR" dirty="0"/>
              <a:t> 19045.3448), en architecture 64 bits. Bien que suffisante pour les opérations de prétraitement et certaines phases d’inférence, cette configuration, dépourvue de GPU dédié, reste limitée pour l'entraînement intensif de modèles de </a:t>
            </a:r>
            <a:r>
              <a:rPr lang="fr-FR" dirty="0" err="1"/>
              <a:t>deep</a:t>
            </a:r>
            <a:r>
              <a:rPr lang="fr-FR" dirty="0"/>
              <a:t> </a:t>
            </a:r>
            <a:r>
              <a:rPr lang="fr-FR" dirty="0" err="1"/>
              <a:t>learning</a:t>
            </a:r>
            <a:r>
              <a:rPr lang="fr-FR" dirty="0"/>
              <a:t>.</a:t>
            </a:r>
            <a:endParaRPr lang="fr-FR" b="1" dirty="0"/>
          </a:p>
          <a:p>
            <a:endParaRPr lang="fr-FR" b="1" dirty="0"/>
          </a:p>
          <a:p>
            <a:endParaRPr lang="fr-FR" dirty="0">
              <a:solidFill>
                <a:srgbClr val="00B050"/>
              </a:solidFill>
            </a:endParaRPr>
          </a:p>
        </p:txBody>
      </p:sp>
    </p:spTree>
    <p:extLst>
      <p:ext uri="{BB962C8B-B14F-4D97-AF65-F5344CB8AC3E}">
        <p14:creationId xmlns:p14="http://schemas.microsoft.com/office/powerpoint/2010/main" val="6342522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a:xfrm>
            <a:off x="0" y="0"/>
            <a:ext cx="12192000" cy="6858000"/>
          </a:xfrm>
        </p:spPr>
        <p:txBody>
          <a:bodyPr>
            <a:normAutofit/>
          </a:bodyPr>
          <a:lstStyle/>
          <a:p>
            <a:pPr algn="l"/>
            <a:r>
              <a:rPr lang="fr-FR" b="1" dirty="0" err="1" smtClean="0"/>
              <a:t>Resultat</a:t>
            </a:r>
            <a:r>
              <a:rPr lang="fr-FR" b="1" dirty="0" smtClean="0"/>
              <a:t> and Discussion</a:t>
            </a:r>
          </a:p>
          <a:p>
            <a:pPr algn="l"/>
            <a:r>
              <a:rPr lang="fr-FR" sz="1800" dirty="0"/>
              <a:t>Dans cette section, nous procédons à une comparaison de nos deux modèles afin d’analyser leurs performances respectives et d’identifier les améliorations obtenues. À cet effet, nous utilisons des métriques spécifiques, indispensables dans les projets d'apprentissage automatique et de science des données pour fournir des mesures objectives de l'efficacité des systèmes.</a:t>
            </a:r>
            <a:br>
              <a:rPr lang="fr-FR" sz="1800" dirty="0"/>
            </a:br>
            <a:r>
              <a:rPr lang="fr-FR" sz="1800" dirty="0"/>
              <a:t>Des indicateurs tels que l'exactitude, la précision et le rappel permettent de vérifier l’atteinte des objectifs fixés, tout en mettant en évidence les points forts et les limitations des modèles. Ils contribuent ainsi au suivi rigoureux de la performance et à l’assurance </a:t>
            </a:r>
            <a:r>
              <a:rPr lang="fr-FR" sz="1800" dirty="0" smtClean="0"/>
              <a:t>qualité. Par </a:t>
            </a:r>
            <a:r>
              <a:rPr lang="fr-FR" sz="1800" dirty="0"/>
              <a:t>ailleurs, un modèle efficace doit démontrer sa capacité à se généraliser à des données inédites, condition essentielle pour garantir sa robustesse et son adaptabilité aux applications du monde </a:t>
            </a:r>
            <a:r>
              <a:rPr lang="fr-FR" sz="1800" dirty="0" smtClean="0"/>
              <a:t>réel. Pour </a:t>
            </a:r>
            <a:r>
              <a:rPr lang="fr-FR" sz="1800" dirty="0"/>
              <a:t>des tâches telles que le sous-titrage d'images, des métriques comme </a:t>
            </a:r>
            <a:r>
              <a:rPr lang="fr-FR" sz="1800" b="1" dirty="0" smtClean="0"/>
              <a:t>BLEU[30]</a:t>
            </a:r>
            <a:r>
              <a:rPr lang="fr-FR" sz="1800" dirty="0" smtClean="0"/>
              <a:t> et </a:t>
            </a:r>
            <a:r>
              <a:rPr lang="fr-FR" sz="1800" b="1" dirty="0" smtClean="0"/>
              <a:t>ROUGE-2[31]</a:t>
            </a:r>
            <a:r>
              <a:rPr lang="fr-FR" sz="1800" dirty="0" smtClean="0"/>
              <a:t> </a:t>
            </a:r>
            <a:r>
              <a:rPr lang="fr-FR" sz="1800" b="1" dirty="0" smtClean="0"/>
              <a:t> </a:t>
            </a:r>
            <a:r>
              <a:rPr lang="fr-FR" sz="1800" dirty="0" smtClean="0"/>
              <a:t>sont </a:t>
            </a:r>
            <a:r>
              <a:rPr lang="fr-FR" sz="1800" dirty="0"/>
              <a:t>couramment utilisées afin d’évaluer la qualité des légendes générées par rapport aux descriptions de </a:t>
            </a:r>
            <a:r>
              <a:rPr lang="fr-FR" sz="1800" dirty="0" smtClean="0"/>
              <a:t>référence. Dans </a:t>
            </a:r>
            <a:r>
              <a:rPr lang="fr-FR" sz="1800" dirty="0"/>
              <a:t>notre étude, nous avons retenu la métrique </a:t>
            </a:r>
            <a:r>
              <a:rPr lang="fr-FR" sz="1800" b="1" dirty="0" smtClean="0"/>
              <a:t>ROUGE-2</a:t>
            </a:r>
            <a:r>
              <a:rPr lang="fr-FR" sz="1800" b="1" dirty="0"/>
              <a:t>[31]</a:t>
            </a:r>
            <a:r>
              <a:rPr lang="fr-FR" sz="1800" dirty="0"/>
              <a:t> </a:t>
            </a:r>
            <a:r>
              <a:rPr lang="fr-FR" sz="1800" dirty="0" smtClean="0"/>
              <a:t> </a:t>
            </a:r>
            <a:r>
              <a:rPr lang="fr-FR" sz="1800" dirty="0"/>
              <a:t>pour mesurer la capacité de nos modèles à produire des textes précis et cohérents avec le contexte visuel</a:t>
            </a:r>
            <a:r>
              <a:rPr lang="fr-FR" sz="1800" dirty="0" smtClean="0"/>
              <a:t>.</a:t>
            </a:r>
          </a:p>
          <a:p>
            <a:pPr algn="l"/>
            <a:endParaRPr lang="fr-FR" sz="1800" b="1" dirty="0" smtClean="0"/>
          </a:p>
          <a:p>
            <a:pPr algn="l"/>
            <a:r>
              <a:rPr lang="fr-FR" sz="1800" dirty="0"/>
              <a:t>ROUGE (</a:t>
            </a:r>
            <a:r>
              <a:rPr lang="fr-FR" sz="1800" dirty="0" err="1"/>
              <a:t>Recall-Oriented</a:t>
            </a:r>
            <a:r>
              <a:rPr lang="fr-FR" sz="1800" dirty="0"/>
              <a:t> </a:t>
            </a:r>
            <a:r>
              <a:rPr lang="fr-FR" sz="1800" dirty="0" err="1"/>
              <a:t>Understudy</a:t>
            </a:r>
            <a:r>
              <a:rPr lang="fr-FR" sz="1800" dirty="0"/>
              <a:t> for </a:t>
            </a:r>
            <a:r>
              <a:rPr lang="fr-FR" sz="1800" dirty="0" err="1"/>
              <a:t>Gisting</a:t>
            </a:r>
            <a:r>
              <a:rPr lang="fr-FR" sz="1800" dirty="0"/>
              <a:t> Evaluation) </a:t>
            </a:r>
            <a:r>
              <a:rPr lang="fr-FR" sz="1800" b="1" dirty="0" smtClean="0"/>
              <a:t>[32] </a:t>
            </a:r>
            <a:r>
              <a:rPr lang="fr-FR" sz="1800" dirty="0" smtClean="0"/>
              <a:t>est </a:t>
            </a:r>
            <a:r>
              <a:rPr lang="fr-FR" sz="1800" dirty="0"/>
              <a:t>une métrique largement employée pour mesurer les performances des modèles de résumé </a:t>
            </a:r>
            <a:r>
              <a:rPr lang="fr-FR" sz="1800" dirty="0" smtClean="0"/>
              <a:t>automatique. Elle </a:t>
            </a:r>
            <a:r>
              <a:rPr lang="fr-FR" sz="1800" dirty="0"/>
              <a:t>estime la similarité entre un résumé généré et un ou plusieurs résumés de référence en analysant le chevauchement des n-grammes, à travers des indicateurs tels que la précision, le rappel et le score </a:t>
            </a:r>
            <a:r>
              <a:rPr lang="fr-FR" sz="1800" dirty="0" smtClean="0"/>
              <a:t>F1. Parmi </a:t>
            </a:r>
            <a:r>
              <a:rPr lang="fr-FR" sz="1800" dirty="0"/>
              <a:t>ses principales variantes, ROUGE-1 se concentre sur les </a:t>
            </a:r>
            <a:r>
              <a:rPr lang="fr-FR" sz="1800" dirty="0" err="1"/>
              <a:t>unigrammes</a:t>
            </a:r>
            <a:r>
              <a:rPr lang="fr-FR" sz="1800" dirty="0"/>
              <a:t> (mots isolés) et ROUGE-2 sur les </a:t>
            </a:r>
            <a:r>
              <a:rPr lang="fr-FR" sz="1800" dirty="0" err="1"/>
              <a:t>bigrammes</a:t>
            </a:r>
            <a:r>
              <a:rPr lang="fr-FR" sz="1800" dirty="0"/>
              <a:t> (paires de mots consécutifs).</a:t>
            </a:r>
            <a:endParaRPr lang="fr-FR" sz="1800" dirty="0" smtClean="0"/>
          </a:p>
        </p:txBody>
      </p:sp>
    </p:spTree>
    <p:extLst>
      <p:ext uri="{BB962C8B-B14F-4D97-AF65-F5344CB8AC3E}">
        <p14:creationId xmlns:p14="http://schemas.microsoft.com/office/powerpoint/2010/main" val="34476705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a:xfrm>
            <a:off x="0" y="0"/>
            <a:ext cx="12192000" cy="6858000"/>
          </a:xfrm>
        </p:spPr>
        <p:txBody>
          <a:bodyPr>
            <a:normAutofit/>
          </a:bodyPr>
          <a:lstStyle/>
          <a:p>
            <a:pPr algn="l"/>
            <a:r>
              <a:rPr lang="fr-FR" b="1" dirty="0" smtClean="0"/>
              <a:t>Conclusion</a:t>
            </a:r>
          </a:p>
          <a:p>
            <a:pPr algn="l"/>
            <a:r>
              <a:rPr lang="fr-FR" sz="1800" dirty="0"/>
              <a:t>Cette étude a présenté un cadre hybride innovant pour la génération automatique de légendes d’images, associant les atouts des Vision </a:t>
            </a:r>
            <a:r>
              <a:rPr lang="fr-FR" sz="1800" dirty="0" err="1"/>
              <a:t>Transformers</a:t>
            </a:r>
            <a:r>
              <a:rPr lang="fr-FR" sz="1800" dirty="0"/>
              <a:t> (</a:t>
            </a:r>
            <a:r>
              <a:rPr lang="fr-FR" sz="1800" dirty="0" err="1"/>
              <a:t>ViT</a:t>
            </a:r>
            <a:r>
              <a:rPr lang="fr-FR" sz="1800" dirty="0"/>
              <a:t>) et des modèles linguistiques </a:t>
            </a:r>
            <a:r>
              <a:rPr lang="fr-FR" sz="1800" b="1" dirty="0" smtClean="0"/>
              <a:t>GPT-2</a:t>
            </a:r>
            <a:r>
              <a:rPr lang="fr-FR" sz="1800" dirty="0" smtClean="0"/>
              <a:t> </a:t>
            </a:r>
            <a:r>
              <a:rPr lang="fr-FR" sz="1800" b="1" dirty="0" smtClean="0"/>
              <a:t>Medium</a:t>
            </a:r>
            <a:r>
              <a:rPr lang="fr-FR" sz="1800" dirty="0" smtClean="0"/>
              <a:t> ou </a:t>
            </a:r>
            <a:r>
              <a:rPr lang="fr-FR" sz="1800" b="1" dirty="0" smtClean="0"/>
              <a:t>Small</a:t>
            </a:r>
            <a:r>
              <a:rPr lang="fr-FR" sz="1800" dirty="0" smtClean="0"/>
              <a:t>. </a:t>
            </a:r>
            <a:r>
              <a:rPr lang="fr-FR" sz="1800" dirty="0"/>
              <a:t>Deux approches complémentaires ont été explorées : l'utilisation de modèles pré-entraînés orientés vers l’accessibilité et le développement du système </a:t>
            </a:r>
            <a:r>
              <a:rPr lang="fr-FR" sz="1800" b="1" dirty="0"/>
              <a:t>VisionGPT2</a:t>
            </a:r>
            <a:r>
              <a:rPr lang="fr-FR" sz="1800" dirty="0"/>
              <a:t> pour une intégration multimodale approfondie. Les résultats obtenus sur les jeux de données </a:t>
            </a:r>
            <a:r>
              <a:rPr lang="fr-FR" sz="1800" b="1" dirty="0"/>
              <a:t>Flickr30k</a:t>
            </a:r>
            <a:r>
              <a:rPr lang="fr-FR" sz="1800" dirty="0"/>
              <a:t> et </a:t>
            </a:r>
            <a:r>
              <a:rPr lang="fr-FR" sz="1800" b="1" dirty="0"/>
              <a:t>MS </a:t>
            </a:r>
            <a:r>
              <a:rPr lang="fr-FR" sz="1800" b="1" dirty="0" smtClean="0"/>
              <a:t>COCO2017</a:t>
            </a:r>
            <a:r>
              <a:rPr lang="fr-FR" sz="1800" dirty="0"/>
              <a:t>, évalués à l'aide de la métrique </a:t>
            </a:r>
            <a:r>
              <a:rPr lang="fr-FR" sz="1800" b="1" dirty="0"/>
              <a:t>ROUGE-2</a:t>
            </a:r>
            <a:r>
              <a:rPr lang="fr-FR" sz="1800" dirty="0"/>
              <a:t>, confirment la capacité des systèmes proposés à produire des descriptions fiables et contextuellement pertinentes. Ce travail ouvre des perspectives prometteuses pour le déploiement de solutions mobiles légères, adaptées aux besoins spécifiques des personnes malvoyantes, tout en contribuant au progrès de la compréhension image-texte avec des contraintes matérielles réduites</a:t>
            </a:r>
            <a:r>
              <a:rPr lang="fr-FR" sz="1800" dirty="0" smtClean="0"/>
              <a:t>.</a:t>
            </a:r>
          </a:p>
          <a:p>
            <a:pPr algn="l"/>
            <a:endParaRPr lang="fr-FR" sz="1800" dirty="0"/>
          </a:p>
          <a:p>
            <a:pPr algn="l"/>
            <a:r>
              <a:rPr lang="fr-FR" sz="1800" dirty="0"/>
              <a:t>Ce travail propose un cadre hybride pour le sous-titrage automatique d’images, combinant les Vision </a:t>
            </a:r>
            <a:r>
              <a:rPr lang="fr-FR" sz="1800" dirty="0" err="1"/>
              <a:t>Transformers</a:t>
            </a:r>
            <a:r>
              <a:rPr lang="fr-FR" sz="1800" dirty="0"/>
              <a:t> (</a:t>
            </a:r>
            <a:r>
              <a:rPr lang="fr-FR" sz="1800" dirty="0" err="1"/>
              <a:t>ViT</a:t>
            </a:r>
            <a:r>
              <a:rPr lang="fr-FR" sz="1800" dirty="0"/>
              <a:t>) et les modèles </a:t>
            </a:r>
            <a:r>
              <a:rPr lang="fr-FR" sz="1800" b="1" dirty="0"/>
              <a:t>GPT-2</a:t>
            </a:r>
            <a:r>
              <a:rPr lang="fr-FR" sz="1800" dirty="0"/>
              <a:t> (Medium et Small). Deux approches sont explorées : l'utilisation de modèles </a:t>
            </a:r>
            <a:r>
              <a:rPr lang="fr-FR" sz="1800" dirty="0" err="1"/>
              <a:t>préentraînés</a:t>
            </a:r>
            <a:r>
              <a:rPr lang="fr-FR" sz="1800" dirty="0"/>
              <a:t> pour une accessibilité optimisée, et la création de </a:t>
            </a:r>
            <a:r>
              <a:rPr lang="fr-FR" sz="1800" b="1" dirty="0"/>
              <a:t>VisionGPT2</a:t>
            </a:r>
            <a:r>
              <a:rPr lang="fr-FR" sz="1800" dirty="0"/>
              <a:t>, une architecture multimodale approfondissant la compréhension </a:t>
            </a:r>
            <a:r>
              <a:rPr lang="fr-FR" sz="1800" dirty="0" smtClean="0"/>
              <a:t>image-texte. Les </a:t>
            </a:r>
            <a:r>
              <a:rPr lang="fr-FR" sz="1800" dirty="0"/>
              <a:t>résultats expérimentaux sur </a:t>
            </a:r>
            <a:r>
              <a:rPr lang="fr-FR" sz="1800" b="1" dirty="0"/>
              <a:t>Flickr30k</a:t>
            </a:r>
            <a:r>
              <a:rPr lang="fr-FR" sz="1800" dirty="0"/>
              <a:t> et </a:t>
            </a:r>
            <a:r>
              <a:rPr lang="fr-FR" sz="1800" b="1" dirty="0"/>
              <a:t>MS COCO 2017 </a:t>
            </a:r>
            <a:r>
              <a:rPr lang="fr-FR" sz="1800" dirty="0"/>
              <a:t>confirment, à travers la métrique </a:t>
            </a:r>
            <a:r>
              <a:rPr lang="fr-FR" sz="1800" b="1" dirty="0"/>
              <a:t>ROUGE-2</a:t>
            </a:r>
            <a:r>
              <a:rPr lang="fr-FR" sz="1800" dirty="0"/>
              <a:t>, la capacité des deux méthodes à produire des légendes cohérentes, contextuellement pertinentes et précises. Ces performances illustrent l’efficacité des modèles hybrides pour les tâches </a:t>
            </a:r>
            <a:r>
              <a:rPr lang="fr-FR" sz="1800" dirty="0" err="1"/>
              <a:t>visuo</a:t>
            </a:r>
            <a:r>
              <a:rPr lang="fr-FR" sz="1800" dirty="0"/>
              <a:t>-langagières tout en assurant un bon compromis entre qualité et </a:t>
            </a:r>
            <a:r>
              <a:rPr lang="fr-FR" sz="1800" dirty="0" smtClean="0"/>
              <a:t>légèreté. Enfin</a:t>
            </a:r>
            <a:r>
              <a:rPr lang="fr-FR" sz="1800" dirty="0"/>
              <a:t>, cette étude ouvre la voie à des solutions mobiles inclusives et en temps réel, adaptées à des environnements contraints. Les recherches futures viseront à étendre les capacités multilingues, à affiner la sensibilité contextuelle et à réduire les temps d’inférence pour des applications embarquées.</a:t>
            </a:r>
          </a:p>
          <a:p>
            <a:pPr algn="l"/>
            <a:endParaRPr lang="fr-FR" sz="1800" dirty="0" smtClean="0"/>
          </a:p>
        </p:txBody>
      </p:sp>
    </p:spTree>
    <p:extLst>
      <p:ext uri="{BB962C8B-B14F-4D97-AF65-F5344CB8AC3E}">
        <p14:creationId xmlns:p14="http://schemas.microsoft.com/office/powerpoint/2010/main" val="32587815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a:xfrm>
            <a:off x="0" y="0"/>
            <a:ext cx="12192000" cy="6858000"/>
          </a:xfrm>
        </p:spPr>
        <p:txBody>
          <a:bodyPr>
            <a:normAutofit fontScale="25000" lnSpcReduction="20000"/>
          </a:bodyPr>
          <a:lstStyle/>
          <a:p>
            <a:pPr algn="l"/>
            <a:r>
              <a:rPr lang="fr-FR" sz="6400" b="1" dirty="0" smtClean="0"/>
              <a:t>Référence:</a:t>
            </a:r>
          </a:p>
          <a:p>
            <a:pPr algn="l"/>
            <a:r>
              <a:rPr lang="fr-FR" sz="6400" b="1" dirty="0"/>
              <a:t>[1] J. </a:t>
            </a:r>
            <a:r>
              <a:rPr lang="fr-FR" sz="6400" b="1" dirty="0" err="1"/>
              <a:t>Lassègue</a:t>
            </a:r>
            <a:r>
              <a:rPr lang="fr-FR" sz="6400" b="1" dirty="0"/>
              <a:t>, “L’intelligence artificielle, Technologie de la Vision Numérique du Monde,” Les Cahiers de la Justice, vol. N° 2, no. 2, pp. 205–219, </a:t>
            </a:r>
            <a:r>
              <a:rPr lang="fr-FR" sz="6400" b="1" dirty="0" err="1"/>
              <a:t>Jul</a:t>
            </a:r>
            <a:r>
              <a:rPr lang="fr-FR" sz="6400" b="1" dirty="0"/>
              <a:t>. 2019. </a:t>
            </a:r>
            <a:r>
              <a:rPr lang="fr-FR" sz="6400" b="1" dirty="0" smtClean="0"/>
              <a:t>doi:10.3917/cdlj.1902.0205</a:t>
            </a:r>
          </a:p>
          <a:p>
            <a:pPr algn="l"/>
            <a:r>
              <a:rPr lang="fr-FR" sz="6400" b="1" dirty="0" smtClean="0"/>
              <a:t>[2] </a:t>
            </a:r>
            <a:r>
              <a:rPr lang="fr-FR" sz="6400" b="1" dirty="0"/>
              <a:t>Y. Liu et al., “An </a:t>
            </a:r>
            <a:r>
              <a:rPr lang="fr-FR" sz="6400" b="1" dirty="0" err="1"/>
              <a:t>improved</a:t>
            </a:r>
            <a:r>
              <a:rPr lang="fr-FR" sz="6400" b="1" dirty="0"/>
              <a:t> </a:t>
            </a:r>
            <a:r>
              <a:rPr lang="fr-FR" sz="6400" b="1" dirty="0" err="1"/>
              <a:t>hybrid</a:t>
            </a:r>
            <a:r>
              <a:rPr lang="fr-FR" sz="6400" b="1" dirty="0"/>
              <a:t> network </a:t>
            </a:r>
            <a:r>
              <a:rPr lang="fr-FR" sz="6400" b="1" dirty="0" err="1"/>
              <a:t>with</a:t>
            </a:r>
            <a:r>
              <a:rPr lang="fr-FR" sz="6400" b="1" dirty="0"/>
              <a:t> a transformer module for </a:t>
            </a:r>
            <a:r>
              <a:rPr lang="fr-FR" sz="6400" b="1" dirty="0" err="1"/>
              <a:t>medical</a:t>
            </a:r>
            <a:r>
              <a:rPr lang="fr-FR" sz="6400" b="1" dirty="0"/>
              <a:t> image fusion,” IEEE Journal of </a:t>
            </a:r>
            <a:r>
              <a:rPr lang="fr-FR" sz="6400" b="1" dirty="0" err="1"/>
              <a:t>Biomedical</a:t>
            </a:r>
            <a:r>
              <a:rPr lang="fr-FR" sz="6400" b="1" dirty="0"/>
              <a:t> and </a:t>
            </a:r>
            <a:r>
              <a:rPr lang="fr-FR" sz="6400" b="1" dirty="0" err="1"/>
              <a:t>Health</a:t>
            </a:r>
            <a:r>
              <a:rPr lang="fr-FR" sz="6400" b="1" dirty="0"/>
              <a:t> </a:t>
            </a:r>
            <a:r>
              <a:rPr lang="fr-FR" sz="6400" b="1" dirty="0" err="1"/>
              <a:t>Informatics</a:t>
            </a:r>
            <a:r>
              <a:rPr lang="fr-FR" sz="6400" b="1" dirty="0"/>
              <a:t>, vol. 27, no. 7, pp. 3489–3500, </a:t>
            </a:r>
            <a:r>
              <a:rPr lang="fr-FR" sz="6400" b="1" dirty="0" err="1"/>
              <a:t>Jul</a:t>
            </a:r>
            <a:r>
              <a:rPr lang="fr-FR" sz="6400" b="1" dirty="0"/>
              <a:t>. 2023. </a:t>
            </a:r>
            <a:r>
              <a:rPr lang="fr-FR" sz="6400" b="1" dirty="0" smtClean="0"/>
              <a:t>doi:10.1109/jbhi.2023.3264819</a:t>
            </a:r>
          </a:p>
          <a:p>
            <a:pPr algn="l"/>
            <a:r>
              <a:rPr lang="en-US" sz="6400" b="1" dirty="0" smtClean="0"/>
              <a:t>[3] </a:t>
            </a:r>
            <a:r>
              <a:rPr lang="en-US" sz="6400" b="1" dirty="0"/>
              <a:t>E. </a:t>
            </a:r>
            <a:r>
              <a:rPr lang="en-US" sz="6400" b="1" dirty="0" err="1"/>
              <a:t>Sarrion</a:t>
            </a:r>
            <a:r>
              <a:rPr lang="en-US" sz="6400" b="1" dirty="0"/>
              <a:t>, “What is </a:t>
            </a:r>
            <a:r>
              <a:rPr lang="en-US" sz="6400" b="1" dirty="0" err="1"/>
              <a:t>chatgpt</a:t>
            </a:r>
            <a:r>
              <a:rPr lang="en-US" sz="6400" b="1" dirty="0"/>
              <a:t> ?,” Exploring the Power of </a:t>
            </a:r>
            <a:r>
              <a:rPr lang="en-US" sz="6400" b="1" dirty="0" err="1"/>
              <a:t>ChatGPT</a:t>
            </a:r>
            <a:r>
              <a:rPr lang="en-US" sz="6400" b="1" dirty="0"/>
              <a:t>, pp. 3–8, 2023. </a:t>
            </a:r>
            <a:r>
              <a:rPr lang="en-US" sz="6400" b="1" dirty="0" smtClean="0"/>
              <a:t>doi:10.1007/978-1-4842-9529-8_1</a:t>
            </a:r>
          </a:p>
          <a:p>
            <a:pPr algn="l"/>
            <a:r>
              <a:rPr lang="fr-FR" sz="6400" b="1" dirty="0" smtClean="0"/>
              <a:t>[4] </a:t>
            </a:r>
            <a:r>
              <a:rPr lang="fr-FR" sz="6400" b="1" dirty="0"/>
              <a:t>Y. Lee and P. Kang, “</a:t>
            </a:r>
            <a:r>
              <a:rPr lang="fr-FR" sz="6400" b="1" dirty="0" err="1"/>
              <a:t>Anovit</a:t>
            </a:r>
            <a:r>
              <a:rPr lang="fr-FR" sz="6400" b="1" dirty="0"/>
              <a:t>: </a:t>
            </a:r>
            <a:r>
              <a:rPr lang="fr-FR" sz="6400" b="1" dirty="0" err="1"/>
              <a:t>Unsupervised</a:t>
            </a:r>
            <a:r>
              <a:rPr lang="fr-FR" sz="6400" b="1" dirty="0"/>
              <a:t> </a:t>
            </a:r>
            <a:r>
              <a:rPr lang="fr-FR" sz="6400" b="1" dirty="0" err="1"/>
              <a:t>anomaly</a:t>
            </a:r>
            <a:r>
              <a:rPr lang="fr-FR" sz="6400" b="1" dirty="0"/>
              <a:t> </a:t>
            </a:r>
            <a:r>
              <a:rPr lang="fr-FR" sz="6400" b="1" dirty="0" err="1"/>
              <a:t>detection</a:t>
            </a:r>
            <a:r>
              <a:rPr lang="fr-FR" sz="6400" b="1" dirty="0"/>
              <a:t> and </a:t>
            </a:r>
            <a:r>
              <a:rPr lang="fr-FR" sz="6400" b="1" dirty="0" err="1"/>
              <a:t>localization</a:t>
            </a:r>
            <a:r>
              <a:rPr lang="fr-FR" sz="6400" b="1" dirty="0"/>
              <a:t> </a:t>
            </a:r>
            <a:r>
              <a:rPr lang="fr-FR" sz="6400" b="1" dirty="0" err="1"/>
              <a:t>with</a:t>
            </a:r>
            <a:r>
              <a:rPr lang="fr-FR" sz="6400" b="1" dirty="0"/>
              <a:t> vision transformer-</a:t>
            </a:r>
            <a:r>
              <a:rPr lang="fr-FR" sz="6400" b="1" dirty="0" err="1"/>
              <a:t>based</a:t>
            </a:r>
            <a:r>
              <a:rPr lang="fr-FR" sz="6400" b="1" dirty="0"/>
              <a:t> encoder-</a:t>
            </a:r>
            <a:r>
              <a:rPr lang="fr-FR" sz="6400" b="1" dirty="0" err="1"/>
              <a:t>decoder</a:t>
            </a:r>
            <a:r>
              <a:rPr lang="fr-FR" sz="6400" b="1" dirty="0"/>
              <a:t>,” IEEE Access, vol. 10, pp. 46717–46724, 2022. </a:t>
            </a:r>
            <a:r>
              <a:rPr lang="fr-FR" sz="6400" b="1" dirty="0" smtClean="0"/>
              <a:t>doi:10.1109/access.2022.3171559</a:t>
            </a:r>
          </a:p>
          <a:p>
            <a:pPr algn="l"/>
            <a:r>
              <a:rPr lang="en-US" sz="6400" b="1" dirty="0" smtClean="0"/>
              <a:t>[5] </a:t>
            </a:r>
            <a:r>
              <a:rPr lang="en-US" sz="6400" b="1" dirty="0"/>
              <a:t>H. Han et al., “Optimizing image captioning: The effectiveness of vision transformers and VGG networks for remote sensing,” Big Data Research, vol. 37, p. 100477, Aug. 2024. </a:t>
            </a:r>
            <a:r>
              <a:rPr lang="en-US" sz="6400" b="1" dirty="0" smtClean="0"/>
              <a:t>doi:10.1016/j.bdr.2024.100477</a:t>
            </a:r>
          </a:p>
          <a:p>
            <a:pPr algn="l"/>
            <a:r>
              <a:rPr lang="en-US" sz="6400" b="1" dirty="0" smtClean="0"/>
              <a:t>[6] </a:t>
            </a:r>
            <a:r>
              <a:rPr lang="en-US" sz="6400" b="1" dirty="0"/>
              <a:t>G. </a:t>
            </a:r>
            <a:r>
              <a:rPr lang="en-US" sz="6400" b="1" dirty="0" err="1"/>
              <a:t>Bharathi</a:t>
            </a:r>
            <a:r>
              <a:rPr lang="en-US" sz="6400" b="1" dirty="0"/>
              <a:t> Mohan et al., “Text summarization for Big Data Analytics: A comprehensive review of GPT 2 and Bert Approaches,” Internet of Things, pp. 247–264, 2023. </a:t>
            </a:r>
            <a:r>
              <a:rPr lang="en-US" sz="6400" b="1" dirty="0" smtClean="0"/>
              <a:t>doi:10.1007/978-3-031-33808-3_14</a:t>
            </a:r>
          </a:p>
          <a:p>
            <a:pPr algn="l"/>
            <a:r>
              <a:rPr lang="fr-FR" sz="6400" b="1" dirty="0" smtClean="0"/>
              <a:t>[7] </a:t>
            </a:r>
            <a:r>
              <a:rPr lang="fr-FR" sz="6400" b="1" dirty="0"/>
              <a:t>M. </a:t>
            </a:r>
            <a:r>
              <a:rPr lang="fr-FR" sz="6400" b="1" dirty="0" err="1"/>
              <a:t>Taraghi</a:t>
            </a:r>
            <a:r>
              <a:rPr lang="fr-FR" sz="6400" b="1" dirty="0"/>
              <a:t>, G. </a:t>
            </a:r>
            <a:r>
              <a:rPr lang="fr-FR" sz="6400" b="1" dirty="0" err="1"/>
              <a:t>Dorcelus</a:t>
            </a:r>
            <a:r>
              <a:rPr lang="fr-FR" sz="6400" b="1" dirty="0"/>
              <a:t>, A. </a:t>
            </a:r>
            <a:r>
              <a:rPr lang="fr-FR" sz="6400" b="1" dirty="0" err="1"/>
              <a:t>Foundjem</a:t>
            </a:r>
            <a:r>
              <a:rPr lang="fr-FR" sz="6400" b="1" dirty="0"/>
              <a:t>, F. </a:t>
            </a:r>
            <a:r>
              <a:rPr lang="fr-FR" sz="6400" b="1" dirty="0" err="1"/>
              <a:t>Tambon</a:t>
            </a:r>
            <a:r>
              <a:rPr lang="fr-FR" sz="6400" b="1" dirty="0"/>
              <a:t>, and F. </a:t>
            </a:r>
            <a:r>
              <a:rPr lang="fr-FR" sz="6400" b="1" dirty="0" err="1"/>
              <a:t>Khomh</a:t>
            </a:r>
            <a:r>
              <a:rPr lang="fr-FR" sz="6400" b="1" dirty="0"/>
              <a:t>, “</a:t>
            </a:r>
            <a:r>
              <a:rPr lang="fr-FR" sz="6400" b="1" dirty="0" err="1"/>
              <a:t>Deep</a:t>
            </a:r>
            <a:r>
              <a:rPr lang="fr-FR" sz="6400" b="1" dirty="0"/>
              <a:t> Learning Model </a:t>
            </a:r>
            <a:r>
              <a:rPr lang="fr-FR" sz="6400" b="1" dirty="0" err="1"/>
              <a:t>Reuse</a:t>
            </a:r>
            <a:r>
              <a:rPr lang="fr-FR" sz="6400" b="1" dirty="0"/>
              <a:t> in the </a:t>
            </a:r>
            <a:r>
              <a:rPr lang="fr-FR" sz="6400" b="1" dirty="0" err="1"/>
              <a:t>Huggingface</a:t>
            </a:r>
            <a:r>
              <a:rPr lang="fr-FR" sz="6400" b="1" dirty="0"/>
              <a:t> </a:t>
            </a:r>
            <a:r>
              <a:rPr lang="fr-FR" sz="6400" b="1" dirty="0" err="1"/>
              <a:t>Community</a:t>
            </a:r>
            <a:r>
              <a:rPr lang="fr-FR" sz="6400" b="1" dirty="0"/>
              <a:t>: Challenges, </a:t>
            </a:r>
            <a:r>
              <a:rPr lang="fr-FR" sz="6400" b="1" dirty="0" err="1"/>
              <a:t>benefit</a:t>
            </a:r>
            <a:r>
              <a:rPr lang="fr-FR" sz="6400" b="1" dirty="0"/>
              <a:t> and Trends,” 2024 IEEE International </a:t>
            </a:r>
            <a:r>
              <a:rPr lang="fr-FR" sz="6400" b="1" dirty="0" err="1"/>
              <a:t>Conference</a:t>
            </a:r>
            <a:r>
              <a:rPr lang="fr-FR" sz="6400" b="1" dirty="0"/>
              <a:t> on Software </a:t>
            </a:r>
            <a:r>
              <a:rPr lang="fr-FR" sz="6400" b="1" dirty="0" err="1"/>
              <a:t>Analysis</a:t>
            </a:r>
            <a:r>
              <a:rPr lang="fr-FR" sz="6400" b="1" dirty="0"/>
              <a:t>, Evolution and </a:t>
            </a:r>
            <a:r>
              <a:rPr lang="fr-FR" sz="6400" b="1" dirty="0" err="1"/>
              <a:t>Reengineering</a:t>
            </a:r>
            <a:r>
              <a:rPr lang="fr-FR" sz="6400" b="1" dirty="0"/>
              <a:t> (SANER), pp. 512–523, Mar. 2024. </a:t>
            </a:r>
            <a:r>
              <a:rPr lang="fr-FR" sz="6400" b="1" dirty="0" smtClean="0"/>
              <a:t>doi:10.1109/saner60148.2024.00059.</a:t>
            </a:r>
          </a:p>
          <a:p>
            <a:pPr algn="l"/>
            <a:r>
              <a:rPr lang="en-US" sz="6400" b="1" dirty="0" smtClean="0"/>
              <a:t>[8] </a:t>
            </a:r>
            <a:r>
              <a:rPr lang="en-US" sz="6400" b="1" dirty="0"/>
              <a:t>A. </a:t>
            </a:r>
            <a:r>
              <a:rPr lang="en-US" sz="6400" b="1" dirty="0" err="1"/>
              <a:t>Auriemma</a:t>
            </a:r>
            <a:r>
              <a:rPr lang="en-US" sz="6400" b="1" dirty="0"/>
              <a:t> </a:t>
            </a:r>
            <a:r>
              <a:rPr lang="en-US" sz="6400" b="1" dirty="0" err="1"/>
              <a:t>Citarella</a:t>
            </a:r>
            <a:r>
              <a:rPr lang="en-US" sz="6400" b="1" dirty="0"/>
              <a:t> et al., “Assessing the effectiveness of Rouge as unbiased metric in extractive vs. abstractive summarization techniques,” Journal of Computational Science, vol. 87, p. 102571, May 2025. doi:10.1016/j.jocs.2025.102571</a:t>
            </a:r>
            <a:endParaRPr lang="fr-FR" sz="6400" b="1" dirty="0" smtClean="0"/>
          </a:p>
          <a:p>
            <a:pPr algn="l"/>
            <a:r>
              <a:rPr lang="en-US" sz="6400" b="1" dirty="0" smtClean="0"/>
              <a:t>[9] </a:t>
            </a:r>
            <a:r>
              <a:rPr lang="en-US" sz="6400" b="1" dirty="0"/>
              <a:t>S. K. Mishra, S. </a:t>
            </a:r>
            <a:r>
              <a:rPr lang="en-US" sz="6400" b="1" dirty="0" err="1"/>
              <a:t>Chakraborty</a:t>
            </a:r>
            <a:r>
              <a:rPr lang="en-US" sz="6400" b="1" dirty="0"/>
              <a:t>, S. </a:t>
            </a:r>
            <a:r>
              <a:rPr lang="en-US" sz="6400" b="1" dirty="0" err="1"/>
              <a:t>Saha</a:t>
            </a:r>
            <a:r>
              <a:rPr lang="en-US" sz="6400" b="1" dirty="0"/>
              <a:t>, and P. Bhattacharyya, “Gagpt-2: A geometric attention-based GPT-2 framework for image captioning in Hindi,” ACM Transactions on Asian and Low-Resource Language Information Processing, vol. 22, no. 10, pp. 1–16, Oct. 2023. </a:t>
            </a:r>
            <a:r>
              <a:rPr lang="en-US" sz="6400" b="1" dirty="0" smtClean="0"/>
              <a:t>doi:10.1145/3622936.</a:t>
            </a:r>
          </a:p>
          <a:p>
            <a:pPr algn="l"/>
            <a:r>
              <a:rPr lang="fr-FR" sz="6400" b="1" dirty="0" smtClean="0"/>
              <a:t>[10] </a:t>
            </a:r>
            <a:r>
              <a:rPr lang="fr-FR" sz="6400" b="1" dirty="0"/>
              <a:t>J. Chen, H. Guo, K. Yi, B. Li, and M. </a:t>
            </a:r>
            <a:r>
              <a:rPr lang="fr-FR" sz="6400" b="1" dirty="0" err="1"/>
              <a:t>Elhoseiny</a:t>
            </a:r>
            <a:r>
              <a:rPr lang="fr-FR" sz="6400" b="1" dirty="0"/>
              <a:t>, “</a:t>
            </a:r>
            <a:r>
              <a:rPr lang="fr-FR" sz="6400" b="1" dirty="0" err="1"/>
              <a:t>VisualGPT</a:t>
            </a:r>
            <a:r>
              <a:rPr lang="fr-FR" sz="6400" b="1" dirty="0"/>
              <a:t>: Data-efficient adaptation of </a:t>
            </a:r>
            <a:r>
              <a:rPr lang="fr-FR" sz="6400" b="1" dirty="0" err="1"/>
              <a:t>pretrained</a:t>
            </a:r>
            <a:r>
              <a:rPr lang="fr-FR" sz="6400" b="1" dirty="0"/>
              <a:t> </a:t>
            </a:r>
            <a:r>
              <a:rPr lang="fr-FR" sz="6400" b="1" dirty="0" err="1"/>
              <a:t>language</a:t>
            </a:r>
            <a:r>
              <a:rPr lang="fr-FR" sz="6400" b="1" dirty="0"/>
              <a:t> </a:t>
            </a:r>
            <a:r>
              <a:rPr lang="fr-FR" sz="6400" b="1" dirty="0" err="1"/>
              <a:t>models</a:t>
            </a:r>
            <a:r>
              <a:rPr lang="fr-FR" sz="6400" b="1" dirty="0"/>
              <a:t> for Image </a:t>
            </a:r>
            <a:r>
              <a:rPr lang="fr-FR" sz="6400" b="1" dirty="0" err="1"/>
              <a:t>captioning</a:t>
            </a:r>
            <a:r>
              <a:rPr lang="fr-FR" sz="6400" b="1" dirty="0"/>
              <a:t>,” </a:t>
            </a:r>
            <a:r>
              <a:rPr lang="fr-FR" sz="6400" b="1" i="1" dirty="0"/>
              <a:t>2022 IEEE/CVF </a:t>
            </a:r>
            <a:r>
              <a:rPr lang="fr-FR" sz="6400" b="1" i="1" dirty="0" err="1"/>
              <a:t>Conference</a:t>
            </a:r>
            <a:r>
              <a:rPr lang="fr-FR" sz="6400" b="1" i="1" dirty="0"/>
              <a:t> on Computer Vision and Pattern Recognition (CVPR)</a:t>
            </a:r>
            <a:r>
              <a:rPr lang="fr-FR" sz="6400" b="1" dirty="0"/>
              <a:t>, pp. 18009–18019, Jun. 2022. </a:t>
            </a:r>
            <a:r>
              <a:rPr lang="fr-FR" sz="6400" b="1" dirty="0" smtClean="0"/>
              <a:t>doi:10.1109/cvpr52688.2022.01750. </a:t>
            </a:r>
          </a:p>
          <a:p>
            <a:pPr algn="l"/>
            <a:r>
              <a:rPr lang="fr-FR" sz="6400" b="1" dirty="0" smtClean="0"/>
              <a:t>[11] Y</a:t>
            </a:r>
            <a:r>
              <a:rPr lang="fr-FR" sz="6400" b="1" dirty="0"/>
              <a:t>. Wang, Y. Wang, D. Li, L. Li, and Z. Zhang, “</a:t>
            </a:r>
            <a:r>
              <a:rPr lang="fr-FR" sz="6400" b="1" dirty="0" err="1"/>
              <a:t>SimVLM</a:t>
            </a:r>
            <a:r>
              <a:rPr lang="fr-FR" sz="6400" b="1" dirty="0"/>
              <a:t>: Simple </a:t>
            </a:r>
            <a:r>
              <a:rPr lang="fr-FR" sz="6400" b="1" dirty="0" err="1"/>
              <a:t>visual</a:t>
            </a:r>
            <a:r>
              <a:rPr lang="fr-FR" sz="6400" b="1" dirty="0"/>
              <a:t> </a:t>
            </a:r>
            <a:r>
              <a:rPr lang="fr-FR" sz="6400" b="1" dirty="0" err="1"/>
              <a:t>language</a:t>
            </a:r>
            <a:r>
              <a:rPr lang="fr-FR" sz="6400" b="1" dirty="0"/>
              <a:t> model </a:t>
            </a:r>
            <a:r>
              <a:rPr lang="fr-FR" sz="6400" b="1" dirty="0" err="1"/>
              <a:t>pretraining</a:t>
            </a:r>
            <a:r>
              <a:rPr lang="fr-FR" sz="6400" b="1" dirty="0"/>
              <a:t> </a:t>
            </a:r>
            <a:r>
              <a:rPr lang="fr-FR" sz="6400" b="1" dirty="0" err="1"/>
              <a:t>with</a:t>
            </a:r>
            <a:r>
              <a:rPr lang="fr-FR" sz="6400" b="1" dirty="0"/>
              <a:t> </a:t>
            </a:r>
            <a:r>
              <a:rPr lang="fr-FR" sz="6400" b="1" dirty="0" err="1"/>
              <a:t>weak</a:t>
            </a:r>
            <a:r>
              <a:rPr lang="fr-FR" sz="6400" b="1" dirty="0"/>
              <a:t> supervision,” </a:t>
            </a:r>
            <a:r>
              <a:rPr lang="fr-FR" sz="6400" b="1" i="1" dirty="0" err="1"/>
              <a:t>arXiv</a:t>
            </a:r>
            <a:r>
              <a:rPr lang="fr-FR" sz="6400" b="1" i="1" dirty="0"/>
              <a:t> </a:t>
            </a:r>
            <a:r>
              <a:rPr lang="fr-FR" sz="6400" b="1" i="1" dirty="0" err="1"/>
              <a:t>preprint</a:t>
            </a:r>
            <a:r>
              <a:rPr lang="fr-FR" sz="6400" b="1" i="1" dirty="0"/>
              <a:t> arXiv:2111.09734</a:t>
            </a:r>
            <a:r>
              <a:rPr lang="fr-FR" sz="6400" b="1" dirty="0"/>
              <a:t>, Nov. 2021</a:t>
            </a:r>
            <a:r>
              <a:rPr lang="fr-FR" sz="6400" b="1" dirty="0" smtClean="0"/>
              <a:t>.</a:t>
            </a:r>
          </a:p>
          <a:p>
            <a:pPr algn="l"/>
            <a:r>
              <a:rPr lang="fr-FR" sz="6400" b="1" dirty="0" smtClean="0"/>
              <a:t>[12] </a:t>
            </a:r>
            <a:r>
              <a:rPr lang="en-US" sz="6400" b="1" dirty="0"/>
              <a:t>F. Colombo, “Transfer learning analysis of fashion image captioning systems,” </a:t>
            </a:r>
            <a:r>
              <a:rPr lang="en-US" sz="6400" b="1" i="1" dirty="0"/>
              <a:t>Master’s thesis</a:t>
            </a:r>
            <a:r>
              <a:rPr lang="en-US" sz="6400" b="1" dirty="0"/>
              <a:t>, </a:t>
            </a:r>
            <a:r>
              <a:rPr lang="en-US" sz="6400" b="1" dirty="0" err="1"/>
              <a:t>Politecnico</a:t>
            </a:r>
            <a:r>
              <a:rPr lang="en-US" sz="6400" b="1" dirty="0"/>
              <a:t> di Milano, School of Industrial and Information Engineering, Apr. 2022</a:t>
            </a:r>
            <a:r>
              <a:rPr lang="en-US" sz="6400" b="1" dirty="0" smtClean="0"/>
              <a:t>.</a:t>
            </a:r>
            <a:r>
              <a:rPr lang="fr-FR" sz="6400" dirty="0"/>
              <a:t> </a:t>
            </a:r>
            <a:r>
              <a:rPr lang="fr-FR" sz="6400" b="1" dirty="0"/>
              <a:t>[Online]. </a:t>
            </a:r>
            <a:r>
              <a:rPr lang="fr-FR" sz="6400" b="1" dirty="0" err="1"/>
              <a:t>Available</a:t>
            </a:r>
            <a:r>
              <a:rPr lang="fr-FR" sz="6400" b="1" dirty="0"/>
              <a:t>: https://</a:t>
            </a:r>
            <a:r>
              <a:rPr lang="fr-FR" sz="6400" b="1" dirty="0" smtClean="0"/>
              <a:t>hdl.handle.net/10589/187559.</a:t>
            </a:r>
          </a:p>
          <a:p>
            <a:pPr algn="l"/>
            <a:r>
              <a:rPr lang="fr-FR" sz="6400" b="1" dirty="0" smtClean="0"/>
              <a:t>[13] U</a:t>
            </a:r>
            <a:r>
              <a:rPr lang="fr-FR" sz="6400" b="1" dirty="0"/>
              <a:t>. </a:t>
            </a:r>
            <a:r>
              <a:rPr lang="fr-FR" sz="6400" b="1" dirty="0" err="1"/>
              <a:t>Pietroni</a:t>
            </a:r>
            <a:r>
              <a:rPr lang="fr-FR" sz="6400" b="1" dirty="0"/>
              <a:t>, “Image </a:t>
            </a:r>
            <a:r>
              <a:rPr lang="fr-FR" sz="6400" b="1" dirty="0" err="1"/>
              <a:t>tagging</a:t>
            </a:r>
            <a:r>
              <a:rPr lang="fr-FR" sz="6400" b="1" dirty="0"/>
              <a:t> and </a:t>
            </a:r>
            <a:r>
              <a:rPr lang="fr-FR" sz="6400" b="1" dirty="0" err="1"/>
              <a:t>captioning</a:t>
            </a:r>
            <a:r>
              <a:rPr lang="fr-FR" sz="6400" b="1" dirty="0"/>
              <a:t> for </a:t>
            </a:r>
            <a:r>
              <a:rPr lang="fr-FR" sz="6400" b="1" dirty="0" err="1"/>
              <a:t>fashion</a:t>
            </a:r>
            <a:r>
              <a:rPr lang="fr-FR" sz="6400" b="1" dirty="0"/>
              <a:t> catalogues </a:t>
            </a:r>
            <a:r>
              <a:rPr lang="fr-FR" sz="6400" b="1" dirty="0" err="1"/>
              <a:t>enrichment</a:t>
            </a:r>
            <a:r>
              <a:rPr lang="fr-FR" sz="6400" b="1" dirty="0"/>
              <a:t>,” </a:t>
            </a:r>
            <a:r>
              <a:rPr lang="fr-FR" sz="6400" b="1" i="1" dirty="0" err="1"/>
              <a:t>Master’s</a:t>
            </a:r>
            <a:r>
              <a:rPr lang="fr-FR" sz="6400" b="1" i="1" dirty="0"/>
              <a:t> </a:t>
            </a:r>
            <a:r>
              <a:rPr lang="fr-FR" sz="6400" b="1" i="1" dirty="0" err="1"/>
              <a:t>thesis</a:t>
            </a:r>
            <a:r>
              <a:rPr lang="fr-FR" sz="6400" b="1" dirty="0"/>
              <a:t>, </a:t>
            </a:r>
            <a:r>
              <a:rPr lang="fr-FR" sz="6400" b="1" dirty="0" err="1"/>
              <a:t>Politecnico</a:t>
            </a:r>
            <a:r>
              <a:rPr lang="fr-FR" sz="6400" b="1" dirty="0"/>
              <a:t> di Milano, </a:t>
            </a:r>
            <a:r>
              <a:rPr lang="fr-FR" sz="6400" b="1" dirty="0" err="1"/>
              <a:t>School</a:t>
            </a:r>
            <a:r>
              <a:rPr lang="fr-FR" sz="6400" b="1" dirty="0"/>
              <a:t> of </a:t>
            </a:r>
            <a:r>
              <a:rPr lang="fr-FR" sz="6400" b="1" dirty="0" err="1"/>
              <a:t>Industrial</a:t>
            </a:r>
            <a:r>
              <a:rPr lang="fr-FR" sz="6400" b="1" dirty="0"/>
              <a:t> and Information Engineering, </a:t>
            </a:r>
            <a:r>
              <a:rPr lang="fr-FR" sz="6400" b="1" dirty="0" err="1"/>
              <a:t>Dec</a:t>
            </a:r>
            <a:r>
              <a:rPr lang="fr-FR" sz="6400" b="1" dirty="0"/>
              <a:t>. 2020</a:t>
            </a:r>
            <a:r>
              <a:rPr lang="fr-FR" sz="6400" b="1" dirty="0" smtClean="0"/>
              <a:t>.</a:t>
            </a:r>
            <a:r>
              <a:rPr lang="fr-FR" sz="6400" dirty="0"/>
              <a:t> </a:t>
            </a:r>
            <a:r>
              <a:rPr lang="fr-FR" sz="6400" b="1" dirty="0"/>
              <a:t>[Online]. </a:t>
            </a:r>
            <a:r>
              <a:rPr lang="fr-FR" sz="6400" b="1" dirty="0" err="1"/>
              <a:t>Available</a:t>
            </a:r>
            <a:r>
              <a:rPr lang="fr-FR" sz="6400" b="1" dirty="0"/>
              <a:t>: https://</a:t>
            </a:r>
            <a:r>
              <a:rPr lang="fr-FR" sz="6400" b="1" dirty="0" smtClean="0"/>
              <a:t>hdl.handle.net/10589/169410.</a:t>
            </a:r>
            <a:endParaRPr lang="fr-FR" sz="6400" b="1" dirty="0"/>
          </a:p>
          <a:p>
            <a:pPr algn="l"/>
            <a:endParaRPr lang="en-US" sz="1600" b="1" dirty="0" smtClean="0"/>
          </a:p>
          <a:p>
            <a:pPr algn="l"/>
            <a:endParaRPr lang="fr-FR" sz="1600" b="1" dirty="0"/>
          </a:p>
          <a:p>
            <a:pPr algn="l"/>
            <a:endParaRPr lang="fr-FR" sz="1600" b="1" dirty="0"/>
          </a:p>
          <a:p>
            <a:pPr algn="l"/>
            <a:endParaRPr lang="fr-FR" sz="1600" b="1" dirty="0" smtClean="0"/>
          </a:p>
          <a:p>
            <a:pPr algn="l"/>
            <a:endParaRPr lang="fr-FR" sz="1600" b="1" dirty="0"/>
          </a:p>
          <a:p>
            <a:pPr algn="l"/>
            <a:endParaRPr lang="en-US" sz="1600" b="1" dirty="0"/>
          </a:p>
          <a:p>
            <a:pPr algn="l"/>
            <a:endParaRPr lang="en-US" sz="1600" b="1" dirty="0" smtClean="0"/>
          </a:p>
          <a:p>
            <a:pPr algn="l"/>
            <a:endParaRPr lang="en-US" sz="1600" b="1" dirty="0"/>
          </a:p>
          <a:p>
            <a:pPr algn="l"/>
            <a:endParaRPr lang="fr-FR" sz="1600" b="1" dirty="0" smtClean="0"/>
          </a:p>
          <a:p>
            <a:pPr algn="l"/>
            <a:endParaRPr lang="fr-FR" sz="1600" b="1" dirty="0" smtClean="0"/>
          </a:p>
          <a:p>
            <a:pPr algn="l"/>
            <a:r>
              <a:rPr lang="fr-FR" sz="1600" b="1" dirty="0" smtClean="0"/>
              <a:t> </a:t>
            </a:r>
            <a:endParaRPr lang="fr-FR" sz="1600" dirty="0"/>
          </a:p>
        </p:txBody>
      </p:sp>
    </p:spTree>
    <p:extLst>
      <p:ext uri="{BB962C8B-B14F-4D97-AF65-F5344CB8AC3E}">
        <p14:creationId xmlns:p14="http://schemas.microsoft.com/office/powerpoint/2010/main" val="42463278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a:xfrm>
            <a:off x="0" y="0"/>
            <a:ext cx="12192000" cy="6858000"/>
          </a:xfrm>
        </p:spPr>
        <p:txBody>
          <a:bodyPr>
            <a:normAutofit fontScale="25000" lnSpcReduction="20000"/>
          </a:bodyPr>
          <a:lstStyle/>
          <a:p>
            <a:pPr algn="l"/>
            <a:r>
              <a:rPr lang="fr-FR" sz="6400" b="1" dirty="0" smtClean="0"/>
              <a:t>Référence:</a:t>
            </a:r>
          </a:p>
          <a:p>
            <a:pPr algn="l"/>
            <a:r>
              <a:rPr lang="en-US" sz="6400" b="1" dirty="0"/>
              <a:t>[</a:t>
            </a:r>
            <a:r>
              <a:rPr lang="en-US" sz="6400" b="1" dirty="0" smtClean="0"/>
              <a:t>14] </a:t>
            </a:r>
            <a:r>
              <a:rPr lang="en-US" sz="6400" b="1" dirty="0"/>
              <a:t>O. </a:t>
            </a:r>
            <a:r>
              <a:rPr lang="en-US" sz="6400" b="1" dirty="0" err="1"/>
              <a:t>Ondeng</a:t>
            </a:r>
            <a:r>
              <a:rPr lang="en-US" sz="6400" b="1" dirty="0"/>
              <a:t>, H. </a:t>
            </a:r>
            <a:r>
              <a:rPr lang="en-US" sz="6400" b="1" dirty="0" err="1"/>
              <a:t>Ouma</a:t>
            </a:r>
            <a:r>
              <a:rPr lang="en-US" sz="6400" b="1" dirty="0"/>
              <a:t>, and P. </a:t>
            </a:r>
            <a:r>
              <a:rPr lang="en-US" sz="6400" b="1" dirty="0" err="1"/>
              <a:t>Akuon</a:t>
            </a:r>
            <a:r>
              <a:rPr lang="en-US" sz="6400" b="1" dirty="0"/>
              <a:t>, “A review of transformer-based approaches for image captioning,” Applied Sciences, vol. 13, no. 19, p. 11103, Oct. 2023. </a:t>
            </a:r>
            <a:r>
              <a:rPr lang="en-US" sz="6400" b="1" dirty="0" smtClean="0"/>
              <a:t>doi:10.3390/app131911103.</a:t>
            </a:r>
            <a:endParaRPr lang="fr-FR" sz="6400" b="1" dirty="0" smtClean="0"/>
          </a:p>
          <a:p>
            <a:pPr algn="l"/>
            <a:r>
              <a:rPr lang="fr-FR" sz="6400" b="1" dirty="0" smtClean="0"/>
              <a:t>[15] </a:t>
            </a:r>
            <a:r>
              <a:rPr lang="fr-FR" sz="6400" b="1" dirty="0"/>
              <a:t>S. </a:t>
            </a:r>
            <a:r>
              <a:rPr lang="fr-FR" sz="6400" b="1" dirty="0" err="1"/>
              <a:t>Mishra</a:t>
            </a:r>
            <a:r>
              <a:rPr lang="fr-FR" sz="6400" b="1" dirty="0"/>
              <a:t> et al., “Image </a:t>
            </a:r>
            <a:r>
              <a:rPr lang="fr-FR" sz="6400" b="1" dirty="0" err="1"/>
              <a:t>caption</a:t>
            </a:r>
            <a:r>
              <a:rPr lang="fr-FR" sz="6400" b="1" dirty="0"/>
              <a:t> </a:t>
            </a:r>
            <a:r>
              <a:rPr lang="fr-FR" sz="6400" b="1" dirty="0" err="1"/>
              <a:t>generation</a:t>
            </a:r>
            <a:r>
              <a:rPr lang="fr-FR" sz="6400" b="1" dirty="0"/>
              <a:t> </a:t>
            </a:r>
            <a:r>
              <a:rPr lang="fr-FR" sz="6400" b="1" dirty="0" err="1"/>
              <a:t>using</a:t>
            </a:r>
            <a:r>
              <a:rPr lang="fr-FR" sz="6400" b="1" dirty="0"/>
              <a:t> vision transformer and GPT architecture,” 2024 2nd International </a:t>
            </a:r>
            <a:r>
              <a:rPr lang="fr-FR" sz="6400" b="1" dirty="0" err="1"/>
              <a:t>Conference</a:t>
            </a:r>
            <a:r>
              <a:rPr lang="fr-FR" sz="6400" b="1" dirty="0"/>
              <a:t> on </a:t>
            </a:r>
            <a:r>
              <a:rPr lang="fr-FR" sz="6400" b="1" dirty="0" err="1"/>
              <a:t>Advancement</a:t>
            </a:r>
            <a:r>
              <a:rPr lang="fr-FR" sz="6400" b="1" dirty="0"/>
              <a:t> in Computation &amp;</a:t>
            </a:r>
            <a:r>
              <a:rPr lang="fr-FR" sz="6400" b="1" dirty="0" err="1"/>
              <a:t>amp;amp</a:t>
            </a:r>
            <a:r>
              <a:rPr lang="fr-FR" sz="6400" b="1" dirty="0"/>
              <a:t>; Computer Technologies (</a:t>
            </a:r>
            <a:r>
              <a:rPr lang="fr-FR" sz="6400" b="1" dirty="0" err="1"/>
              <a:t>InCACCT</a:t>
            </a:r>
            <a:r>
              <a:rPr lang="fr-FR" sz="6400" b="1" dirty="0"/>
              <a:t>), pp. 1–6, May 2024. </a:t>
            </a:r>
            <a:r>
              <a:rPr lang="fr-FR" sz="6400" b="1" dirty="0" smtClean="0"/>
              <a:t>doi:10.1109/incacct61598.2024.10551257.</a:t>
            </a:r>
          </a:p>
          <a:p>
            <a:pPr algn="l"/>
            <a:r>
              <a:rPr lang="fr-FR" sz="6400" b="1" dirty="0" smtClean="0"/>
              <a:t>[16] </a:t>
            </a:r>
            <a:r>
              <a:rPr lang="fr-FR" sz="6400" b="1" dirty="0"/>
              <a:t>R. Castro, I. </a:t>
            </a:r>
            <a:r>
              <a:rPr lang="fr-FR" sz="6400" b="1" dirty="0" err="1"/>
              <a:t>Pineda</a:t>
            </a:r>
            <a:r>
              <a:rPr lang="fr-FR" sz="6400" b="1" dirty="0"/>
              <a:t>, W. Lim, and M. E. </a:t>
            </a:r>
            <a:r>
              <a:rPr lang="fr-FR" sz="6400" b="1" dirty="0" err="1"/>
              <a:t>Morocho-Cayamcela</a:t>
            </a:r>
            <a:r>
              <a:rPr lang="fr-FR" sz="6400" b="1" dirty="0"/>
              <a:t>, “</a:t>
            </a:r>
            <a:r>
              <a:rPr lang="fr-FR" sz="6400" b="1" dirty="0" err="1"/>
              <a:t>Deep</a:t>
            </a:r>
            <a:r>
              <a:rPr lang="fr-FR" sz="6400" b="1" dirty="0"/>
              <a:t> </a:t>
            </a:r>
            <a:r>
              <a:rPr lang="fr-FR" sz="6400" b="1" dirty="0" err="1"/>
              <a:t>learning</a:t>
            </a:r>
            <a:r>
              <a:rPr lang="fr-FR" sz="6400" b="1" dirty="0"/>
              <a:t> </a:t>
            </a:r>
            <a:r>
              <a:rPr lang="fr-FR" sz="6400" b="1" dirty="0" err="1"/>
              <a:t>approaches</a:t>
            </a:r>
            <a:r>
              <a:rPr lang="fr-FR" sz="6400" b="1" dirty="0"/>
              <a:t> </a:t>
            </a:r>
            <a:r>
              <a:rPr lang="fr-FR" sz="6400" b="1" dirty="0" err="1"/>
              <a:t>based</a:t>
            </a:r>
            <a:r>
              <a:rPr lang="fr-FR" sz="6400" b="1" dirty="0"/>
              <a:t> on transformer architectures for image </a:t>
            </a:r>
            <a:r>
              <a:rPr lang="fr-FR" sz="6400" b="1" dirty="0" err="1"/>
              <a:t>captioning</a:t>
            </a:r>
            <a:r>
              <a:rPr lang="fr-FR" sz="6400" b="1" dirty="0"/>
              <a:t> </a:t>
            </a:r>
            <a:r>
              <a:rPr lang="fr-FR" sz="6400" b="1" dirty="0" err="1"/>
              <a:t>tasks</a:t>
            </a:r>
            <a:r>
              <a:rPr lang="fr-FR" sz="6400" b="1" dirty="0"/>
              <a:t>,” IEEE Access, vol. 10, pp. 33679–33694, 2022. </a:t>
            </a:r>
            <a:r>
              <a:rPr lang="fr-FR" sz="6400" b="1" dirty="0" smtClean="0"/>
              <a:t>doi:10.1109/access.2022.3161428.</a:t>
            </a:r>
          </a:p>
          <a:p>
            <a:pPr algn="l"/>
            <a:r>
              <a:rPr lang="en-US" sz="6400" b="1" dirty="0" smtClean="0"/>
              <a:t>[17] </a:t>
            </a:r>
            <a:r>
              <a:rPr lang="en-US" sz="6400" b="1" dirty="0"/>
              <a:t>R. Pedro and A. L. Oliveira, “Assessing the impact of attention and self-attention mechanisms on the classification of skin lesions,” </a:t>
            </a:r>
            <a:r>
              <a:rPr lang="en-US" sz="6400" b="1" i="1" dirty="0"/>
              <a:t>2022 International Joint Conference on Neural Networks (IJCNN)</a:t>
            </a:r>
            <a:r>
              <a:rPr lang="en-US" sz="6400" b="1" dirty="0"/>
              <a:t>, pp. 1–8, Jul. 2022. </a:t>
            </a:r>
            <a:r>
              <a:rPr lang="en-US" sz="6400" b="1" dirty="0" smtClean="0"/>
              <a:t>doi:10.1109/ijcnn55064.2022.9892274. </a:t>
            </a:r>
          </a:p>
          <a:p>
            <a:pPr algn="l"/>
            <a:r>
              <a:rPr lang="en-US" sz="6400" b="1" dirty="0" smtClean="0"/>
              <a:t>[18] </a:t>
            </a:r>
            <a:r>
              <a:rPr lang="en-US" sz="6400" b="1" dirty="0"/>
              <a:t>A. Beyer and L. </a:t>
            </a:r>
            <a:r>
              <a:rPr lang="en-US" sz="6400" b="1" dirty="0" err="1"/>
              <a:t>Alexy</a:t>
            </a:r>
            <a:r>
              <a:rPr lang="en-US" sz="6400" b="1" dirty="0"/>
              <a:t>, </a:t>
            </a:r>
            <a:r>
              <a:rPr lang="en-US" sz="6400" b="1" i="1" dirty="0"/>
              <a:t>An image equals 16X16 words: Scaling image </a:t>
            </a:r>
            <a:r>
              <a:rPr lang="en-US" sz="6400" b="1" i="1" dirty="0" err="1"/>
              <a:t>recogni:on</a:t>
            </a:r>
            <a:r>
              <a:rPr lang="en-US" sz="6400" b="1" i="1" dirty="0"/>
              <a:t> with transformers</a:t>
            </a:r>
            <a:r>
              <a:rPr lang="en-US" sz="6400" b="1" dirty="0"/>
              <a:t>, 2025. </a:t>
            </a:r>
            <a:r>
              <a:rPr lang="en-US" sz="6400" b="1" dirty="0" smtClean="0"/>
              <a:t>doi:10.2139/ssrn.5180447. </a:t>
            </a:r>
          </a:p>
          <a:p>
            <a:pPr algn="l"/>
            <a:r>
              <a:rPr lang="fr-FR" sz="6400" b="1" dirty="0" smtClean="0"/>
              <a:t>[19] </a:t>
            </a:r>
            <a:r>
              <a:rPr lang="fr-FR" sz="6400" b="1" dirty="0"/>
              <a:t>M. </a:t>
            </a:r>
            <a:r>
              <a:rPr lang="fr-FR" sz="6400" b="1" dirty="0" err="1"/>
              <a:t>Barraco</a:t>
            </a:r>
            <a:r>
              <a:rPr lang="fr-FR" sz="6400" b="1" dirty="0"/>
              <a:t>, M. </a:t>
            </a:r>
            <a:r>
              <a:rPr lang="fr-FR" sz="6400" b="1" dirty="0" err="1"/>
              <a:t>Cornia</a:t>
            </a:r>
            <a:r>
              <a:rPr lang="fr-FR" sz="6400" b="1" dirty="0"/>
              <a:t>, S. </a:t>
            </a:r>
            <a:r>
              <a:rPr lang="fr-FR" sz="6400" b="1" dirty="0" err="1"/>
              <a:t>Cascianelli</a:t>
            </a:r>
            <a:r>
              <a:rPr lang="fr-FR" sz="6400" b="1" dirty="0"/>
              <a:t>, L. </a:t>
            </a:r>
            <a:r>
              <a:rPr lang="fr-FR" sz="6400" b="1" dirty="0" err="1"/>
              <a:t>Baraldi</a:t>
            </a:r>
            <a:r>
              <a:rPr lang="fr-FR" sz="6400" b="1" dirty="0"/>
              <a:t>, and R. </a:t>
            </a:r>
            <a:r>
              <a:rPr lang="fr-FR" sz="6400" b="1" dirty="0" err="1"/>
              <a:t>Cucchiara</a:t>
            </a:r>
            <a:r>
              <a:rPr lang="fr-FR" sz="6400" b="1" dirty="0"/>
              <a:t>, “The </a:t>
            </a:r>
            <a:r>
              <a:rPr lang="fr-FR" sz="6400" b="1" dirty="0" err="1"/>
              <a:t>unreasonable</a:t>
            </a:r>
            <a:r>
              <a:rPr lang="fr-FR" sz="6400" b="1" dirty="0"/>
              <a:t> </a:t>
            </a:r>
            <a:r>
              <a:rPr lang="fr-FR" sz="6400" b="1" dirty="0" err="1"/>
              <a:t>effectiveness</a:t>
            </a:r>
            <a:r>
              <a:rPr lang="fr-FR" sz="6400" b="1" dirty="0"/>
              <a:t> of clip </a:t>
            </a:r>
            <a:r>
              <a:rPr lang="fr-FR" sz="6400" b="1" dirty="0" err="1"/>
              <a:t>features</a:t>
            </a:r>
            <a:r>
              <a:rPr lang="fr-FR" sz="6400" b="1" dirty="0"/>
              <a:t> for image </a:t>
            </a:r>
            <a:r>
              <a:rPr lang="fr-FR" sz="6400" b="1" dirty="0" err="1"/>
              <a:t>captioning</a:t>
            </a:r>
            <a:r>
              <a:rPr lang="fr-FR" sz="6400" b="1" dirty="0"/>
              <a:t>: An </a:t>
            </a:r>
            <a:r>
              <a:rPr lang="fr-FR" sz="6400" b="1" dirty="0" err="1"/>
              <a:t>experimental</a:t>
            </a:r>
            <a:r>
              <a:rPr lang="fr-FR" sz="6400" b="1" dirty="0"/>
              <a:t> </a:t>
            </a:r>
            <a:r>
              <a:rPr lang="fr-FR" sz="6400" b="1" dirty="0" err="1"/>
              <a:t>analysis</a:t>
            </a:r>
            <a:r>
              <a:rPr lang="fr-FR" sz="6400" b="1" dirty="0"/>
              <a:t>,” </a:t>
            </a:r>
            <a:r>
              <a:rPr lang="fr-FR" sz="6400" b="1" i="1" dirty="0"/>
              <a:t>2022 IEEE/CVF </a:t>
            </a:r>
            <a:r>
              <a:rPr lang="fr-FR" sz="6400" b="1" i="1" dirty="0" err="1"/>
              <a:t>Conference</a:t>
            </a:r>
            <a:r>
              <a:rPr lang="fr-FR" sz="6400" b="1" i="1" dirty="0"/>
              <a:t> on Computer Vision and Pattern Recognition Workshops (CVPRW)</a:t>
            </a:r>
            <a:r>
              <a:rPr lang="fr-FR" sz="6400" b="1" dirty="0"/>
              <a:t>, Jun. 2022. </a:t>
            </a:r>
            <a:r>
              <a:rPr lang="fr-FR" sz="6400" b="1" dirty="0" smtClean="0"/>
              <a:t>doi:10.1109/cvprw56347.2022.00512. </a:t>
            </a:r>
          </a:p>
          <a:p>
            <a:pPr algn="l"/>
            <a:r>
              <a:rPr lang="fr-FR" sz="6400" b="1" dirty="0" smtClean="0"/>
              <a:t>[20] </a:t>
            </a:r>
            <a:r>
              <a:rPr lang="fr-FR" sz="6400" b="1" dirty="0"/>
              <a:t>A. S. </a:t>
            </a:r>
            <a:r>
              <a:rPr lang="fr-FR" sz="6400" b="1" dirty="0" err="1"/>
              <a:t>Karthik</a:t>
            </a:r>
            <a:r>
              <a:rPr lang="fr-FR" sz="6400" b="1" dirty="0"/>
              <a:t>, M. H. </a:t>
            </a:r>
            <a:r>
              <a:rPr lang="fr-FR" sz="6400" b="1" dirty="0" err="1"/>
              <a:t>Karthik</a:t>
            </a:r>
            <a:r>
              <a:rPr lang="fr-FR" sz="6400" b="1" dirty="0"/>
              <a:t>, S. </a:t>
            </a:r>
            <a:r>
              <a:rPr lang="fr-FR" sz="6400" b="1" dirty="0" err="1"/>
              <a:t>Yashwanth</a:t>
            </a:r>
            <a:r>
              <a:rPr lang="fr-FR" sz="6400" b="1" dirty="0"/>
              <a:t>, and A. T, “Image </a:t>
            </a:r>
            <a:r>
              <a:rPr lang="fr-FR" sz="6400" b="1" dirty="0" err="1"/>
              <a:t>captioning</a:t>
            </a:r>
            <a:r>
              <a:rPr lang="fr-FR" sz="6400" b="1" dirty="0"/>
              <a:t>: </a:t>
            </a:r>
            <a:r>
              <a:rPr lang="fr-FR" sz="6400" b="1" dirty="0" err="1"/>
              <a:t>Analyzing</a:t>
            </a:r>
            <a:r>
              <a:rPr lang="fr-FR" sz="6400" b="1" dirty="0"/>
              <a:t> CNN-LSTM and vision-GPT </a:t>
            </a:r>
            <a:r>
              <a:rPr lang="fr-FR" sz="6400" b="1" dirty="0" err="1"/>
              <a:t>models</a:t>
            </a:r>
            <a:r>
              <a:rPr lang="fr-FR" sz="6400" b="1" dirty="0"/>
              <a:t>,” </a:t>
            </a:r>
            <a:r>
              <a:rPr lang="fr-FR" sz="6400" b="1" i="1" dirty="0"/>
              <a:t>2024 IEEE 9th International </a:t>
            </a:r>
            <a:r>
              <a:rPr lang="fr-FR" sz="6400" b="1" i="1" dirty="0" err="1"/>
              <a:t>Conference</a:t>
            </a:r>
            <a:r>
              <a:rPr lang="fr-FR" sz="6400" b="1" i="1" dirty="0"/>
              <a:t> for Convergence in </a:t>
            </a:r>
            <a:r>
              <a:rPr lang="fr-FR" sz="6400" b="1" i="1" dirty="0" err="1"/>
              <a:t>Technology</a:t>
            </a:r>
            <a:r>
              <a:rPr lang="fr-FR" sz="6400" b="1" i="1" dirty="0"/>
              <a:t> (I2CT)</a:t>
            </a:r>
            <a:r>
              <a:rPr lang="fr-FR" sz="6400" b="1" dirty="0"/>
              <a:t>, pp. 1–6, Apr. 2024. doi:10.1109/i2ct61223.2024.10543514 </a:t>
            </a:r>
            <a:endParaRPr lang="fr-FR" sz="6400" b="1" dirty="0" smtClean="0"/>
          </a:p>
          <a:p>
            <a:pPr algn="l"/>
            <a:r>
              <a:rPr lang="fr-FR" sz="6400" b="1" dirty="0" smtClean="0"/>
              <a:t>[21] </a:t>
            </a:r>
            <a:r>
              <a:rPr lang="fr-FR" sz="6400" b="1" dirty="0"/>
              <a:t>R. Song, B. Zhao, and L. </a:t>
            </a:r>
            <a:r>
              <a:rPr lang="fr-FR" sz="6400" b="1" dirty="0" err="1"/>
              <a:t>Yu</a:t>
            </a:r>
            <a:r>
              <a:rPr lang="fr-FR" sz="6400" b="1" dirty="0"/>
              <a:t>, “</a:t>
            </a:r>
            <a:r>
              <a:rPr lang="fr-FR" sz="6400" b="1" dirty="0" err="1"/>
              <a:t>Enhanced</a:t>
            </a:r>
            <a:r>
              <a:rPr lang="fr-FR" sz="6400" b="1" dirty="0"/>
              <a:t> clip-GPT </a:t>
            </a:r>
            <a:r>
              <a:rPr lang="fr-FR" sz="6400" b="1" dirty="0" err="1"/>
              <a:t>framework</a:t>
            </a:r>
            <a:r>
              <a:rPr lang="fr-FR" sz="6400" b="1" dirty="0"/>
              <a:t> for cross-lingual </a:t>
            </a:r>
            <a:r>
              <a:rPr lang="fr-FR" sz="6400" b="1" dirty="0" err="1"/>
              <a:t>Remote</a:t>
            </a:r>
            <a:r>
              <a:rPr lang="fr-FR" sz="6400" b="1" dirty="0"/>
              <a:t> </a:t>
            </a:r>
            <a:r>
              <a:rPr lang="fr-FR" sz="6400" b="1" dirty="0" err="1"/>
              <a:t>Sensing</a:t>
            </a:r>
            <a:r>
              <a:rPr lang="fr-FR" sz="6400" b="1" dirty="0"/>
              <a:t> Image </a:t>
            </a:r>
            <a:r>
              <a:rPr lang="fr-FR" sz="6400" b="1" dirty="0" err="1"/>
              <a:t>captioning</a:t>
            </a:r>
            <a:r>
              <a:rPr lang="fr-FR" sz="6400" b="1" dirty="0"/>
              <a:t>,” </a:t>
            </a:r>
            <a:r>
              <a:rPr lang="fr-FR" sz="6400" b="1" i="1" dirty="0"/>
              <a:t>IEEE Access</a:t>
            </a:r>
            <a:r>
              <a:rPr lang="fr-FR" sz="6400" b="1" dirty="0"/>
              <a:t>, vol. 13, pp. 904–915, 2025. doi:10.1109/access.2024.3522585 </a:t>
            </a:r>
            <a:endParaRPr lang="fr-FR" sz="6400" b="1" dirty="0" smtClean="0"/>
          </a:p>
          <a:p>
            <a:pPr algn="l"/>
            <a:r>
              <a:rPr lang="fr-FR" sz="6400" b="1" dirty="0" smtClean="0"/>
              <a:t>[22] </a:t>
            </a:r>
            <a:r>
              <a:rPr lang="en-US" sz="6400" b="1" dirty="0" smtClean="0"/>
              <a:t>A</a:t>
            </a:r>
            <a:r>
              <a:rPr lang="en-US" sz="6400" b="1" dirty="0"/>
              <a:t>. Radford, J. Wu, R. Child, D. Luan, D. </a:t>
            </a:r>
            <a:r>
              <a:rPr lang="en-US" sz="6400" b="1" dirty="0" err="1"/>
              <a:t>Amodei</a:t>
            </a:r>
            <a:r>
              <a:rPr lang="en-US" sz="6400" b="1" dirty="0"/>
              <a:t>, and I. </a:t>
            </a:r>
            <a:r>
              <a:rPr lang="en-US" sz="6400" b="1" dirty="0" err="1"/>
              <a:t>Sutskever</a:t>
            </a:r>
            <a:r>
              <a:rPr lang="en-US" sz="6400" b="1" dirty="0"/>
              <a:t>, ”Language Models are Unsupervised Multitask Learners,” </a:t>
            </a:r>
            <a:r>
              <a:rPr lang="en-US" sz="6400" b="1" dirty="0" err="1"/>
              <a:t>OpenAI</a:t>
            </a:r>
            <a:r>
              <a:rPr lang="en-US" sz="6400" b="1" dirty="0"/>
              <a:t>, 2019</a:t>
            </a:r>
            <a:r>
              <a:rPr lang="en-US" sz="6400" b="1" dirty="0" smtClean="0"/>
              <a:t>.</a:t>
            </a:r>
          </a:p>
          <a:p>
            <a:pPr algn="l"/>
            <a:r>
              <a:rPr lang="fr-FR" sz="6400" b="1" dirty="0" smtClean="0"/>
              <a:t>[23] </a:t>
            </a:r>
            <a:r>
              <a:rPr lang="fr-FR" sz="6400" b="1" dirty="0"/>
              <a:t>B. A. Plummer </a:t>
            </a:r>
            <a:r>
              <a:rPr lang="fr-FR" sz="6400" b="1" i="1" dirty="0"/>
              <a:t>et al.</a:t>
            </a:r>
            <a:r>
              <a:rPr lang="fr-FR" sz="6400" b="1" dirty="0"/>
              <a:t>, “Flickr30k </a:t>
            </a:r>
            <a:r>
              <a:rPr lang="fr-FR" sz="6400" b="1" dirty="0" err="1"/>
              <a:t>entities</a:t>
            </a:r>
            <a:r>
              <a:rPr lang="fr-FR" sz="6400" b="1" dirty="0"/>
              <a:t>: </a:t>
            </a:r>
            <a:r>
              <a:rPr lang="fr-FR" sz="6400" b="1" dirty="0" err="1"/>
              <a:t>Collecting</a:t>
            </a:r>
            <a:r>
              <a:rPr lang="fr-FR" sz="6400" b="1" dirty="0"/>
              <a:t> </a:t>
            </a:r>
            <a:r>
              <a:rPr lang="fr-FR" sz="6400" b="1" dirty="0" err="1"/>
              <a:t>region</a:t>
            </a:r>
            <a:r>
              <a:rPr lang="fr-FR" sz="6400" b="1" dirty="0"/>
              <a:t>-to-phrase </a:t>
            </a:r>
            <a:r>
              <a:rPr lang="fr-FR" sz="6400" b="1" dirty="0" err="1"/>
              <a:t>correspondences</a:t>
            </a:r>
            <a:r>
              <a:rPr lang="fr-FR" sz="6400" b="1" dirty="0"/>
              <a:t> for </a:t>
            </a:r>
            <a:r>
              <a:rPr lang="fr-FR" sz="6400" b="1" dirty="0" err="1"/>
              <a:t>richer</a:t>
            </a:r>
            <a:r>
              <a:rPr lang="fr-FR" sz="6400" b="1" dirty="0"/>
              <a:t> image-to-sentence </a:t>
            </a:r>
            <a:r>
              <a:rPr lang="fr-FR" sz="6400" b="1" dirty="0" err="1"/>
              <a:t>models</a:t>
            </a:r>
            <a:r>
              <a:rPr lang="fr-FR" sz="6400" b="1" dirty="0"/>
              <a:t>,” </a:t>
            </a:r>
            <a:r>
              <a:rPr lang="fr-FR" sz="6400" b="1" i="1" dirty="0"/>
              <a:t>2015 IEEE International </a:t>
            </a:r>
            <a:r>
              <a:rPr lang="fr-FR" sz="6400" b="1" i="1" dirty="0" err="1"/>
              <a:t>Conference</a:t>
            </a:r>
            <a:r>
              <a:rPr lang="fr-FR" sz="6400" b="1" i="1" dirty="0"/>
              <a:t> on Computer Vision (ICCV)</a:t>
            </a:r>
            <a:r>
              <a:rPr lang="fr-FR" sz="6400" b="1" dirty="0"/>
              <a:t>, pp. 2641–2649, </a:t>
            </a:r>
            <a:r>
              <a:rPr lang="fr-FR" sz="6400" b="1" dirty="0" err="1"/>
              <a:t>Dec</a:t>
            </a:r>
            <a:r>
              <a:rPr lang="fr-FR" sz="6400" b="1" dirty="0"/>
              <a:t>. 2015. </a:t>
            </a:r>
            <a:r>
              <a:rPr lang="fr-FR" sz="6400" b="1" dirty="0" smtClean="0"/>
              <a:t>doi:10.1109/iccv.2015.303.</a:t>
            </a:r>
          </a:p>
          <a:p>
            <a:pPr algn="l"/>
            <a:r>
              <a:rPr lang="fr-FR" sz="6400" b="1" dirty="0" smtClean="0"/>
              <a:t>[24] </a:t>
            </a:r>
            <a:r>
              <a:rPr lang="fr-FR" sz="6400" b="1" dirty="0"/>
              <a:t>O. </a:t>
            </a:r>
            <a:r>
              <a:rPr lang="fr-FR" sz="6400" b="1" dirty="0" err="1"/>
              <a:t>Vinyals</a:t>
            </a:r>
            <a:r>
              <a:rPr lang="fr-FR" sz="6400" b="1" dirty="0"/>
              <a:t>, A. </a:t>
            </a:r>
            <a:r>
              <a:rPr lang="fr-FR" sz="6400" b="1" dirty="0" err="1"/>
              <a:t>Toshev</a:t>
            </a:r>
            <a:r>
              <a:rPr lang="fr-FR" sz="6400" b="1" dirty="0"/>
              <a:t>, S. Bengio, and D. </a:t>
            </a:r>
            <a:r>
              <a:rPr lang="fr-FR" sz="6400" b="1" dirty="0" err="1"/>
              <a:t>Erhan</a:t>
            </a:r>
            <a:r>
              <a:rPr lang="fr-FR" sz="6400" b="1" dirty="0"/>
              <a:t>, “Show and tell: A neural image </a:t>
            </a:r>
            <a:r>
              <a:rPr lang="fr-FR" sz="6400" b="1" dirty="0" err="1"/>
              <a:t>caption</a:t>
            </a:r>
            <a:r>
              <a:rPr lang="fr-FR" sz="6400" b="1" dirty="0"/>
              <a:t> </a:t>
            </a:r>
            <a:r>
              <a:rPr lang="fr-FR" sz="6400" b="1" dirty="0" err="1"/>
              <a:t>generator</a:t>
            </a:r>
            <a:r>
              <a:rPr lang="fr-FR" sz="6400" b="1" dirty="0"/>
              <a:t>,” 2015 IEEE </a:t>
            </a:r>
            <a:r>
              <a:rPr lang="fr-FR" sz="6400" b="1" dirty="0" err="1"/>
              <a:t>Conference</a:t>
            </a:r>
            <a:r>
              <a:rPr lang="fr-FR" sz="6400" b="1" dirty="0"/>
              <a:t> on Computer Vision and Pattern Recognition (CVPR), pp. 3156–3164, Jun. 2015. doi:10.1109/cvpr.2015.7298935 </a:t>
            </a:r>
            <a:endParaRPr lang="fr-FR" sz="6400" b="1" dirty="0" smtClean="0"/>
          </a:p>
          <a:p>
            <a:pPr algn="l"/>
            <a:r>
              <a:rPr lang="fr-FR" sz="6400" b="1" dirty="0" smtClean="0"/>
              <a:t>[25]</a:t>
            </a:r>
            <a:r>
              <a:rPr lang="en-US" sz="6400" b="1" dirty="0" smtClean="0"/>
              <a:t> </a:t>
            </a:r>
            <a:r>
              <a:rPr lang="en-US" sz="6400" b="1" dirty="0"/>
              <a:t>R. </a:t>
            </a:r>
            <a:r>
              <a:rPr lang="en-US" sz="6400" b="1" dirty="0" err="1"/>
              <a:t>Keskin</a:t>
            </a:r>
            <a:r>
              <a:rPr lang="en-US" sz="6400" b="1" dirty="0"/>
              <a:t>, O. T. Moral, V. </a:t>
            </a:r>
            <a:r>
              <a:rPr lang="en-US" sz="6400" b="1" dirty="0" err="1"/>
              <a:t>Kilic</a:t>
            </a:r>
            <a:r>
              <a:rPr lang="en-US" sz="6400" b="1" dirty="0"/>
              <a:t>, and A. </a:t>
            </a:r>
            <a:r>
              <a:rPr lang="en-US" sz="6400" b="1" dirty="0" err="1"/>
              <a:t>Onan</a:t>
            </a:r>
            <a:r>
              <a:rPr lang="en-US" sz="6400" b="1" dirty="0"/>
              <a:t>, “Multi-</a:t>
            </a:r>
            <a:r>
              <a:rPr lang="en-US" sz="6400" b="1" dirty="0" err="1"/>
              <a:t>gru</a:t>
            </a:r>
            <a:r>
              <a:rPr lang="en-US" sz="6400" b="1" dirty="0"/>
              <a:t> based automated image captioning for smartphones,” 2021 29th Signal</a:t>
            </a:r>
          </a:p>
          <a:p>
            <a:pPr algn="l"/>
            <a:r>
              <a:rPr lang="en-US" sz="6400" b="1" dirty="0"/>
              <a:t> Processing and Communications Applications Conference (SIU), Jun. 2021. </a:t>
            </a:r>
            <a:r>
              <a:rPr lang="en-US" sz="6400" b="1" dirty="0" err="1"/>
              <a:t>doi</a:t>
            </a:r>
            <a:r>
              <a:rPr lang="en-US" sz="6400" b="1" dirty="0"/>
              <a:t>: 10.1109/siu53274.2021.9477901</a:t>
            </a:r>
            <a:r>
              <a:rPr lang="en-US" sz="6400" b="1" dirty="0" smtClean="0"/>
              <a:t>.</a:t>
            </a:r>
          </a:p>
          <a:p>
            <a:pPr algn="l"/>
            <a:r>
              <a:rPr lang="fr-FR" sz="6400" b="1" dirty="0" smtClean="0"/>
              <a:t>[26] </a:t>
            </a:r>
            <a:r>
              <a:rPr lang="fr-FR" sz="6400" b="1" dirty="0"/>
              <a:t>H. Gupta, J. Y. </a:t>
            </a:r>
            <a:r>
              <a:rPr lang="fr-FR" sz="6400" b="1" dirty="0" err="1"/>
              <a:t>Vishwesh</a:t>
            </a:r>
            <a:r>
              <a:rPr lang="fr-FR" sz="6400" b="1" dirty="0"/>
              <a:t>, M. </a:t>
            </a:r>
            <a:r>
              <a:rPr lang="fr-FR" sz="6400" b="1" dirty="0" err="1"/>
              <a:t>Jagadeesh</a:t>
            </a:r>
            <a:r>
              <a:rPr lang="fr-FR" sz="6400" b="1" dirty="0"/>
              <a:t>, M. </a:t>
            </a:r>
            <a:r>
              <a:rPr lang="fr-FR" sz="6400" b="1" dirty="0" err="1"/>
              <a:t>Sucharitha</a:t>
            </a:r>
            <a:r>
              <a:rPr lang="fr-FR" sz="6400" b="1" dirty="0"/>
              <a:t>, and V. S. </a:t>
            </a:r>
            <a:r>
              <a:rPr lang="fr-FR" sz="6400" b="1" dirty="0" err="1"/>
              <a:t>Pradyothan</a:t>
            </a:r>
            <a:r>
              <a:rPr lang="fr-FR" sz="6400" b="1" dirty="0"/>
              <a:t>, “Ha </a:t>
            </a:r>
            <a:r>
              <a:rPr lang="fr-FR" sz="6400" b="1" dirty="0" err="1"/>
              <a:t>hybrid</a:t>
            </a:r>
            <a:r>
              <a:rPr lang="fr-FR" sz="6400" b="1" dirty="0"/>
              <a:t> model </a:t>
            </a:r>
            <a:r>
              <a:rPr lang="fr-FR" sz="6400" b="1" dirty="0" err="1"/>
              <a:t>combining</a:t>
            </a:r>
            <a:r>
              <a:rPr lang="fr-FR" sz="6400" b="1" dirty="0"/>
              <a:t> vision transformer and </a:t>
            </a:r>
            <a:r>
              <a:rPr lang="fr-FR" sz="6400" b="1" dirty="0" err="1"/>
              <a:t>generative</a:t>
            </a:r>
            <a:r>
              <a:rPr lang="fr-FR" sz="6400" b="1" dirty="0"/>
              <a:t> </a:t>
            </a:r>
            <a:r>
              <a:rPr lang="fr-FR" sz="6400" b="1" dirty="0" err="1"/>
              <a:t>pre-trained</a:t>
            </a:r>
            <a:r>
              <a:rPr lang="fr-FR" sz="6400" b="1" dirty="0"/>
              <a:t> transformer for image </a:t>
            </a:r>
            <a:r>
              <a:rPr lang="fr-FR" sz="6400" b="1" dirty="0" err="1"/>
              <a:t>captioning</a:t>
            </a:r>
            <a:r>
              <a:rPr lang="fr-FR" sz="6400" b="1" dirty="0"/>
              <a:t>,” 2025 International </a:t>
            </a:r>
            <a:r>
              <a:rPr lang="fr-FR" sz="6400" b="1" dirty="0" err="1"/>
              <a:t>Conference</a:t>
            </a:r>
            <a:r>
              <a:rPr lang="fr-FR" sz="6400" b="1" dirty="0"/>
              <a:t> on </a:t>
            </a:r>
            <a:r>
              <a:rPr lang="fr-FR" sz="6400" b="1" dirty="0" err="1"/>
              <a:t>Pervasive</a:t>
            </a:r>
            <a:r>
              <a:rPr lang="fr-FR" sz="6400" b="1" dirty="0"/>
              <a:t> </a:t>
            </a:r>
            <a:r>
              <a:rPr lang="fr-FR" sz="6400" b="1" dirty="0" err="1"/>
              <a:t>Computational</a:t>
            </a:r>
            <a:r>
              <a:rPr lang="fr-FR" sz="6400" b="1" dirty="0"/>
              <a:t> Technologies (ICPCT), pp. 825–828, </a:t>
            </a:r>
            <a:r>
              <a:rPr lang="fr-FR" sz="6400" b="1" dirty="0" err="1"/>
              <a:t>Feb</a:t>
            </a:r>
            <a:r>
              <a:rPr lang="fr-FR" sz="6400" b="1" dirty="0"/>
              <a:t>. 2025. </a:t>
            </a:r>
            <a:r>
              <a:rPr lang="fr-FR" sz="6400" b="1" dirty="0" smtClean="0"/>
              <a:t>doi:10.1109/icpct64145.2025.10939211.</a:t>
            </a:r>
          </a:p>
          <a:p>
            <a:pPr algn="l"/>
            <a:r>
              <a:rPr lang="fr-FR" sz="4000" b="1" dirty="0" smtClean="0"/>
              <a:t> </a:t>
            </a:r>
            <a:endParaRPr lang="fr-FR" sz="4000" b="1" dirty="0"/>
          </a:p>
          <a:p>
            <a:pPr algn="l"/>
            <a:endParaRPr lang="fr-FR" sz="1900" b="1" dirty="0"/>
          </a:p>
          <a:p>
            <a:pPr algn="l"/>
            <a:endParaRPr lang="fr-FR" sz="1600" b="1" dirty="0"/>
          </a:p>
          <a:p>
            <a:pPr algn="l"/>
            <a:endParaRPr lang="fr-FR" sz="1600" b="1" dirty="0" smtClean="0"/>
          </a:p>
          <a:p>
            <a:pPr algn="l"/>
            <a:endParaRPr lang="fr-FR" sz="1600" b="1" dirty="0"/>
          </a:p>
          <a:p>
            <a:pPr algn="l"/>
            <a:endParaRPr lang="en-US" sz="1600" b="1" dirty="0"/>
          </a:p>
          <a:p>
            <a:pPr algn="l"/>
            <a:endParaRPr lang="en-US" sz="1600" b="1" dirty="0" smtClean="0"/>
          </a:p>
          <a:p>
            <a:pPr algn="l"/>
            <a:endParaRPr lang="en-US" sz="1600" b="1" dirty="0"/>
          </a:p>
          <a:p>
            <a:pPr algn="l"/>
            <a:endParaRPr lang="fr-FR" sz="1600" b="1" dirty="0" smtClean="0"/>
          </a:p>
          <a:p>
            <a:pPr algn="l"/>
            <a:endParaRPr lang="fr-FR" sz="1600" b="1" dirty="0" smtClean="0"/>
          </a:p>
          <a:p>
            <a:pPr algn="l"/>
            <a:r>
              <a:rPr lang="fr-FR" sz="1600" b="1" dirty="0" smtClean="0"/>
              <a:t> </a:t>
            </a:r>
            <a:endParaRPr lang="fr-FR" sz="1600" dirty="0"/>
          </a:p>
        </p:txBody>
      </p:sp>
    </p:spTree>
    <p:extLst>
      <p:ext uri="{BB962C8B-B14F-4D97-AF65-F5344CB8AC3E}">
        <p14:creationId xmlns:p14="http://schemas.microsoft.com/office/powerpoint/2010/main" val="39251228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a:xfrm>
            <a:off x="0" y="0"/>
            <a:ext cx="12192000" cy="6858000"/>
          </a:xfrm>
        </p:spPr>
        <p:txBody>
          <a:bodyPr>
            <a:normAutofit fontScale="92500" lnSpcReduction="20000"/>
          </a:bodyPr>
          <a:lstStyle/>
          <a:p>
            <a:pPr algn="l"/>
            <a:r>
              <a:rPr lang="en-US" sz="1700" b="1" dirty="0" smtClean="0"/>
              <a:t>[27] </a:t>
            </a:r>
            <a:r>
              <a:rPr lang="en-US" sz="1700" b="1" dirty="0"/>
              <a:t>W. de </a:t>
            </a:r>
            <a:r>
              <a:rPr lang="en-US" sz="1700" b="1" dirty="0" err="1"/>
              <a:t>Vries</a:t>
            </a:r>
            <a:r>
              <a:rPr lang="en-US" sz="1700" b="1" dirty="0"/>
              <a:t> and M. </a:t>
            </a:r>
            <a:r>
              <a:rPr lang="en-US" sz="1700" b="1" dirty="0" err="1"/>
              <a:t>Nissim</a:t>
            </a:r>
            <a:r>
              <a:rPr lang="en-US" sz="1700" b="1" dirty="0"/>
              <a:t>, “As good as new. how to successfully recycle English GPT-2 to make models for other languages,” Findings of the Association for Computational Linguistics: ACL-IJCNLP 2021, pp. 836–846, 2021. </a:t>
            </a:r>
            <a:r>
              <a:rPr lang="en-US" sz="1700" b="1" dirty="0" smtClean="0"/>
              <a:t>doi:10.18653/v1/2021.findings-acl.74.</a:t>
            </a:r>
          </a:p>
          <a:p>
            <a:pPr algn="l"/>
            <a:r>
              <a:rPr lang="en-US" sz="1700" b="1" dirty="0" smtClean="0"/>
              <a:t>[28] </a:t>
            </a:r>
            <a:r>
              <a:rPr lang="en-US" sz="1700" b="1" dirty="0"/>
              <a:t>J. </a:t>
            </a:r>
            <a:r>
              <a:rPr lang="en-US" sz="1700" b="1" dirty="0" err="1"/>
              <a:t>Gao</a:t>
            </a:r>
            <a:r>
              <a:rPr lang="en-US" sz="1700" b="1" dirty="0"/>
              <a:t>, J. Wang, S. Dai, L.-J. Li, and R. </a:t>
            </a:r>
            <a:r>
              <a:rPr lang="en-US" sz="1700" b="1" dirty="0" err="1"/>
              <a:t>Nevatia</a:t>
            </a:r>
            <a:r>
              <a:rPr lang="en-US" sz="1700" b="1" dirty="0"/>
              <a:t>, “Note-RCNN: Noise tolerant ensemble RCNN for semi-supervised Object Detection,” 2019 IEEE/CVF International Conference on Computer Vision (ICCV), pp. 9507–9516, Oct. 2019. </a:t>
            </a:r>
            <a:r>
              <a:rPr lang="en-US" sz="1700" b="1" dirty="0" smtClean="0"/>
              <a:t>doi:10.1109/iccv.2019.00960.</a:t>
            </a:r>
          </a:p>
          <a:p>
            <a:pPr algn="l"/>
            <a:r>
              <a:rPr lang="en-US" sz="1700" b="1" dirty="0" smtClean="0"/>
              <a:t>[29] </a:t>
            </a:r>
            <a:r>
              <a:rPr lang="en-US" sz="1700" b="1" dirty="0" err="1" smtClean="0"/>
              <a:t>Zand</a:t>
            </a:r>
            <a:r>
              <a:rPr lang="en-US" sz="1700" b="1" dirty="0"/>
              <a:t>, M., </a:t>
            </a:r>
            <a:r>
              <a:rPr lang="en-US" sz="1700" b="1" dirty="0" err="1"/>
              <a:t>Etemad</a:t>
            </a:r>
            <a:r>
              <a:rPr lang="en-US" sz="1700" b="1" dirty="0"/>
              <a:t>, A. and Greenspan, M. (2022) ‘</a:t>
            </a:r>
            <a:r>
              <a:rPr lang="en-US" sz="1700" b="1" dirty="0" err="1"/>
              <a:t>ObjectBox</a:t>
            </a:r>
            <a:r>
              <a:rPr lang="en-US" sz="1700" b="1" dirty="0"/>
              <a:t>: From centers to boxes for anchor-free object detection’, Lecture Notes in Computer Science, pp. 390–406. doi:10.1007/978-3-031-20080-9_23</a:t>
            </a:r>
            <a:r>
              <a:rPr lang="en-US" sz="1700" b="1" dirty="0" smtClean="0"/>
              <a:t>.</a:t>
            </a:r>
          </a:p>
          <a:p>
            <a:pPr algn="l"/>
            <a:r>
              <a:rPr lang="en-US" sz="1700" b="1" dirty="0" smtClean="0"/>
              <a:t>[30</a:t>
            </a:r>
            <a:r>
              <a:rPr lang="en-US" sz="1700" b="1" dirty="0"/>
              <a:t>] </a:t>
            </a:r>
            <a:r>
              <a:rPr lang="en-US" sz="1700" b="1" dirty="0" smtClean="0"/>
              <a:t>Y</a:t>
            </a:r>
            <a:r>
              <a:rPr lang="en-US" sz="1700" b="1" dirty="0"/>
              <a:t>. Wada, K. </a:t>
            </a:r>
            <a:r>
              <a:rPr lang="en-US" sz="1700" b="1" dirty="0" err="1"/>
              <a:t>Kaneda</a:t>
            </a:r>
            <a:r>
              <a:rPr lang="en-US" sz="1700" b="1" dirty="0"/>
              <a:t>, D. Saito, and K. </a:t>
            </a:r>
            <a:r>
              <a:rPr lang="en-US" sz="1700" b="1" dirty="0" err="1"/>
              <a:t>Sugiura</a:t>
            </a:r>
            <a:r>
              <a:rPr lang="en-US" sz="1700" b="1" dirty="0"/>
              <a:t>, “</a:t>
            </a:r>
            <a:r>
              <a:rPr lang="en-US" sz="1700" b="1" dirty="0" err="1"/>
              <a:t>Polos</a:t>
            </a:r>
            <a:r>
              <a:rPr lang="en-US" sz="1700" b="1" dirty="0"/>
              <a:t>: Multimodal metric learning from human feedback for image captioning,” 2024 IEEE/CVF Conference on Computer Vision and Pattern Recognition (CVPR), pp. 13559–13568, Jun. 2024. doi:10.1109/cvpr52733.2024.01287 </a:t>
            </a:r>
            <a:endParaRPr lang="en-US" sz="1700" b="1" dirty="0" smtClean="0"/>
          </a:p>
          <a:p>
            <a:pPr algn="l"/>
            <a:r>
              <a:rPr lang="en-US" sz="1700" b="1" dirty="0" smtClean="0"/>
              <a:t>[31] M</a:t>
            </a:r>
            <a:r>
              <a:rPr lang="en-US" sz="1700" b="1" dirty="0"/>
              <a:t>. </a:t>
            </a:r>
            <a:r>
              <a:rPr lang="en-US" sz="1700" b="1" dirty="0" err="1"/>
              <a:t>Eyal</a:t>
            </a:r>
            <a:r>
              <a:rPr lang="en-US" sz="1700" b="1" dirty="0"/>
              <a:t>, T. </a:t>
            </a:r>
            <a:r>
              <a:rPr lang="en-US" sz="1700" b="1" dirty="0" err="1"/>
              <a:t>Baumel</a:t>
            </a:r>
            <a:r>
              <a:rPr lang="en-US" sz="1700" b="1" dirty="0"/>
              <a:t>, and M. </a:t>
            </a:r>
            <a:r>
              <a:rPr lang="en-US" sz="1700" b="1" dirty="0" err="1"/>
              <a:t>Elhadad</a:t>
            </a:r>
            <a:r>
              <a:rPr lang="en-US" sz="1700" b="1" dirty="0"/>
              <a:t>, “Question answering as an automatic evaluation metric for news article summarization,” </a:t>
            </a:r>
            <a:r>
              <a:rPr lang="en-US" sz="1700" b="1" i="1" dirty="0"/>
              <a:t>Proceedings of the 2019 Conference of the North</a:t>
            </a:r>
            <a:r>
              <a:rPr lang="en-US" sz="1700" b="1" dirty="0"/>
              <a:t>, 2019. </a:t>
            </a:r>
            <a:r>
              <a:rPr lang="en-US" sz="1700" b="1" dirty="0" smtClean="0"/>
              <a:t>doi:10.18653/v1/n19-1395. </a:t>
            </a:r>
          </a:p>
          <a:p>
            <a:pPr algn="l"/>
            <a:r>
              <a:rPr lang="en-US" sz="1700" b="1" dirty="0" smtClean="0"/>
              <a:t>[32]</a:t>
            </a:r>
            <a:r>
              <a:rPr lang="fr-FR" sz="1700" dirty="0" smtClean="0"/>
              <a:t> </a:t>
            </a:r>
            <a:r>
              <a:rPr lang="fr-FR" sz="1700" b="1" dirty="0" smtClean="0"/>
              <a:t>A</a:t>
            </a:r>
            <a:r>
              <a:rPr lang="fr-FR" sz="1700" b="1" dirty="0"/>
              <a:t>. Al-</a:t>
            </a:r>
            <a:r>
              <a:rPr lang="fr-FR" sz="1700" b="1" dirty="0" err="1"/>
              <a:t>Numai</a:t>
            </a:r>
            <a:r>
              <a:rPr lang="fr-FR" sz="1700" b="1" dirty="0"/>
              <a:t> and A. </a:t>
            </a:r>
            <a:r>
              <a:rPr lang="fr-FR" sz="1700" b="1" dirty="0" err="1"/>
              <a:t>Azmi</a:t>
            </a:r>
            <a:r>
              <a:rPr lang="fr-FR" sz="1700" b="1" dirty="0"/>
              <a:t>, “</a:t>
            </a:r>
            <a:r>
              <a:rPr lang="fr-FR" sz="1700" b="1" dirty="0" err="1"/>
              <a:t>Lemma</a:t>
            </a:r>
            <a:r>
              <a:rPr lang="fr-FR" sz="1700" b="1" dirty="0"/>
              <a:t>-Rouge: An </a:t>
            </a:r>
            <a:r>
              <a:rPr lang="fr-FR" sz="1700" b="1" dirty="0" err="1"/>
              <a:t>evaluation</a:t>
            </a:r>
            <a:r>
              <a:rPr lang="fr-FR" sz="1700" b="1" dirty="0"/>
              <a:t> </a:t>
            </a:r>
            <a:r>
              <a:rPr lang="fr-FR" sz="1700" b="1" dirty="0" err="1"/>
              <a:t>metric</a:t>
            </a:r>
            <a:r>
              <a:rPr lang="fr-FR" sz="1700" b="1" dirty="0"/>
              <a:t> for </a:t>
            </a:r>
            <a:r>
              <a:rPr lang="fr-FR" sz="1700" b="1" dirty="0" err="1"/>
              <a:t>Arabic</a:t>
            </a:r>
            <a:r>
              <a:rPr lang="fr-FR" sz="1700" b="1" dirty="0"/>
              <a:t> abstractive </a:t>
            </a:r>
            <a:r>
              <a:rPr lang="fr-FR" sz="1700" b="1" dirty="0" err="1"/>
              <a:t>text</a:t>
            </a:r>
            <a:r>
              <a:rPr lang="fr-FR" sz="1700" b="1" dirty="0"/>
              <a:t> </a:t>
            </a:r>
            <a:r>
              <a:rPr lang="fr-FR" sz="1700" b="1" dirty="0" err="1"/>
              <a:t>summarization</a:t>
            </a:r>
            <a:r>
              <a:rPr lang="fr-FR" sz="1700" b="1" dirty="0"/>
              <a:t>,” </a:t>
            </a:r>
            <a:r>
              <a:rPr lang="fr-FR" sz="1700" b="1" i="1" dirty="0"/>
              <a:t>The </a:t>
            </a:r>
            <a:r>
              <a:rPr lang="fr-FR" sz="1700" b="1" i="1" dirty="0" err="1"/>
              <a:t>Indonesian</a:t>
            </a:r>
            <a:r>
              <a:rPr lang="fr-FR" sz="1700" b="1" i="1" dirty="0"/>
              <a:t> Journal of Computer Science</a:t>
            </a:r>
            <a:r>
              <a:rPr lang="fr-FR" sz="1700" b="1" dirty="0"/>
              <a:t>, vol. 12, no. 2, pp. 470–481, Apr. 2023. </a:t>
            </a:r>
            <a:r>
              <a:rPr lang="fr-FR" sz="1700" b="1" dirty="0" smtClean="0"/>
              <a:t>doi:10.33022/ijcs.v12i2.3190. </a:t>
            </a:r>
            <a:endParaRPr lang="fr-FR" sz="1700" b="1" dirty="0"/>
          </a:p>
          <a:p>
            <a:pPr algn="l"/>
            <a:endParaRPr lang="en-US" sz="1600" b="1" dirty="0"/>
          </a:p>
          <a:p>
            <a:pPr algn="l"/>
            <a:endParaRPr lang="en-US" sz="1600" b="1" dirty="0" smtClean="0"/>
          </a:p>
          <a:p>
            <a:pPr algn="l"/>
            <a:r>
              <a:rPr lang="fr-FR" sz="1600" b="1" dirty="0" smtClean="0"/>
              <a:t> </a:t>
            </a:r>
            <a:endParaRPr lang="fr-FR" sz="1600" b="1" dirty="0"/>
          </a:p>
          <a:p>
            <a:pPr algn="l"/>
            <a:endParaRPr lang="fr-FR" sz="1900" b="1" dirty="0"/>
          </a:p>
          <a:p>
            <a:pPr algn="l"/>
            <a:endParaRPr lang="fr-FR" sz="1600" b="1" dirty="0"/>
          </a:p>
          <a:p>
            <a:pPr algn="l"/>
            <a:endParaRPr lang="fr-FR" sz="1600" b="1" dirty="0" smtClean="0"/>
          </a:p>
          <a:p>
            <a:pPr algn="l"/>
            <a:endParaRPr lang="fr-FR" sz="1600" b="1" dirty="0"/>
          </a:p>
          <a:p>
            <a:pPr algn="l"/>
            <a:endParaRPr lang="en-US" sz="1600" b="1" dirty="0"/>
          </a:p>
          <a:p>
            <a:pPr algn="l"/>
            <a:endParaRPr lang="en-US" sz="1600" b="1" dirty="0" smtClean="0"/>
          </a:p>
          <a:p>
            <a:pPr algn="l"/>
            <a:endParaRPr lang="en-US" sz="1600" b="1" dirty="0"/>
          </a:p>
          <a:p>
            <a:pPr algn="l"/>
            <a:endParaRPr lang="fr-FR" sz="1600" b="1" dirty="0" smtClean="0"/>
          </a:p>
          <a:p>
            <a:pPr algn="l"/>
            <a:endParaRPr lang="fr-FR" sz="1600" b="1" dirty="0" smtClean="0"/>
          </a:p>
          <a:p>
            <a:pPr algn="l"/>
            <a:r>
              <a:rPr lang="fr-FR" sz="1600" b="1" dirty="0" smtClean="0"/>
              <a:t> </a:t>
            </a:r>
            <a:endParaRPr lang="fr-FR" sz="1600" dirty="0"/>
          </a:p>
        </p:txBody>
      </p:sp>
    </p:spTree>
    <p:extLst>
      <p:ext uri="{BB962C8B-B14F-4D97-AF65-F5344CB8AC3E}">
        <p14:creationId xmlns:p14="http://schemas.microsoft.com/office/powerpoint/2010/main" val="3707967789"/>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1837</TotalTime>
  <Words>4228</Words>
  <Application>Microsoft Office PowerPoint</Application>
  <PresentationFormat>Grand écran</PresentationFormat>
  <Paragraphs>200</Paragraphs>
  <Slides>21</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21</vt:i4>
      </vt:variant>
    </vt:vector>
  </HeadingPairs>
  <TitlesOfParts>
    <vt:vector size="25" baseType="lpstr">
      <vt:lpstr>Arial</vt:lpstr>
      <vt:lpstr>Calibri</vt:lpstr>
      <vt:lpstr>Calibri Light</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LENOVO</dc:creator>
  <cp:lastModifiedBy>LENOVO</cp:lastModifiedBy>
  <cp:revision>235</cp:revision>
  <dcterms:created xsi:type="dcterms:W3CDTF">2025-04-20T12:46:47Z</dcterms:created>
  <dcterms:modified xsi:type="dcterms:W3CDTF">2025-04-30T12:33:45Z</dcterms:modified>
</cp:coreProperties>
</file>